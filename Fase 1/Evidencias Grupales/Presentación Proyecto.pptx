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28292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8292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8292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8292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8292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1" i="0">
                <a:solidFill>
                  <a:srgbClr val="28292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FFA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234" y="40268"/>
            <a:ext cx="14618006" cy="23206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1" i="0">
                <a:solidFill>
                  <a:srgbClr val="282929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92846" y="3302332"/>
            <a:ext cx="8793480" cy="5102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82929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3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Relationship Id="rId3" Type="http://schemas.openxmlformats.org/officeDocument/2006/relationships/image" Target="../media/image1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3432" y="1301688"/>
            <a:ext cx="10424795" cy="65963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 marL="12065" marR="5080">
              <a:lnSpc>
                <a:spcPts val="10420"/>
              </a:lnSpc>
            </a:pPr>
            <a:r>
              <a:rPr dirty="0" sz="8350" spc="944" b="1">
                <a:solidFill>
                  <a:srgbClr val="282929"/>
                </a:solidFill>
                <a:latin typeface="Cambria"/>
                <a:cs typeface="Cambria"/>
              </a:rPr>
              <a:t>SAFESHIFT PREDICTOR: </a:t>
            </a:r>
            <a:r>
              <a:rPr dirty="0" sz="8350" spc="1390" b="1">
                <a:solidFill>
                  <a:srgbClr val="282929"/>
                </a:solidFill>
                <a:latin typeface="Cambria"/>
                <a:cs typeface="Cambria"/>
              </a:rPr>
              <a:t>MONITOR </a:t>
            </a:r>
            <a:r>
              <a:rPr dirty="0" sz="8350" spc="1030" b="1">
                <a:solidFill>
                  <a:srgbClr val="282929"/>
                </a:solidFill>
                <a:latin typeface="Cambria"/>
                <a:cs typeface="Cambria"/>
              </a:rPr>
              <a:t>PREDICTIVO</a:t>
            </a:r>
            <a:r>
              <a:rPr dirty="0" sz="8350" spc="-350" b="1">
                <a:solidFill>
                  <a:srgbClr val="282929"/>
                </a:solidFill>
                <a:latin typeface="Cambria"/>
                <a:cs typeface="Cambria"/>
              </a:rPr>
              <a:t> </a:t>
            </a:r>
            <a:r>
              <a:rPr dirty="0" sz="8350" spc="1435" b="1">
                <a:solidFill>
                  <a:srgbClr val="282929"/>
                </a:solidFill>
                <a:latin typeface="Cambria"/>
                <a:cs typeface="Cambria"/>
              </a:rPr>
              <a:t>DE </a:t>
            </a:r>
            <a:r>
              <a:rPr dirty="0" sz="8350" spc="985" b="1">
                <a:solidFill>
                  <a:srgbClr val="282929"/>
                </a:solidFill>
                <a:latin typeface="Cambria"/>
                <a:cs typeface="Cambria"/>
              </a:rPr>
              <a:t>FATIGA</a:t>
            </a:r>
            <a:r>
              <a:rPr dirty="0" sz="8350" spc="-380" b="1">
                <a:solidFill>
                  <a:srgbClr val="282929"/>
                </a:solidFill>
                <a:latin typeface="Cambria"/>
                <a:cs typeface="Cambria"/>
              </a:rPr>
              <a:t> </a:t>
            </a:r>
            <a:r>
              <a:rPr dirty="0" sz="8350" spc="1160" b="1">
                <a:solidFill>
                  <a:srgbClr val="282929"/>
                </a:solidFill>
                <a:latin typeface="Cambria"/>
                <a:cs typeface="Cambria"/>
              </a:rPr>
              <a:t>LABORAL</a:t>
            </a:r>
            <a:endParaRPr sz="83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04489" y="7951639"/>
            <a:ext cx="5878830" cy="810260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92075" marR="5080" indent="-80010">
              <a:lnSpc>
                <a:spcPct val="74200"/>
              </a:lnSpc>
              <a:spcBef>
                <a:spcPts val="1019"/>
              </a:spcBef>
            </a:pPr>
            <a:r>
              <a:rPr dirty="0" sz="2950" spc="70">
                <a:solidFill>
                  <a:srgbClr val="282929"/>
                </a:solidFill>
                <a:latin typeface="Trebuchet MS"/>
                <a:cs typeface="Trebuchet MS"/>
              </a:rPr>
              <a:t>Ignacio</a:t>
            </a:r>
            <a:r>
              <a:rPr dirty="0" sz="295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 spc="65">
                <a:solidFill>
                  <a:srgbClr val="282929"/>
                </a:solidFill>
                <a:latin typeface="Trebuchet MS"/>
                <a:cs typeface="Trebuchet MS"/>
              </a:rPr>
              <a:t>Cuevas,</a:t>
            </a:r>
            <a:r>
              <a:rPr dirty="0" sz="295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>
                <a:solidFill>
                  <a:srgbClr val="282929"/>
                </a:solidFill>
                <a:latin typeface="Trebuchet MS"/>
                <a:cs typeface="Trebuchet MS"/>
              </a:rPr>
              <a:t>Benjamin</a:t>
            </a:r>
            <a:r>
              <a:rPr dirty="0" sz="295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 spc="-10">
                <a:solidFill>
                  <a:srgbClr val="282929"/>
                </a:solidFill>
                <a:latin typeface="Trebuchet MS"/>
                <a:cs typeface="Trebuchet MS"/>
              </a:rPr>
              <a:t>Berrios, </a:t>
            </a:r>
            <a:r>
              <a:rPr dirty="0" sz="2950" spc="70">
                <a:solidFill>
                  <a:srgbClr val="282929"/>
                </a:solidFill>
                <a:latin typeface="Trebuchet MS"/>
                <a:cs typeface="Trebuchet MS"/>
              </a:rPr>
              <a:t>Matias</a:t>
            </a:r>
            <a:r>
              <a:rPr dirty="0" sz="2950" spc="-114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 spc="80">
                <a:solidFill>
                  <a:srgbClr val="282929"/>
                </a:solidFill>
                <a:latin typeface="Trebuchet MS"/>
                <a:cs typeface="Trebuchet MS"/>
              </a:rPr>
              <a:t>Carrasco</a:t>
            </a:r>
            <a:r>
              <a:rPr dirty="0" sz="2950" spc="-114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 spc="14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950" spc="-1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>
                <a:solidFill>
                  <a:srgbClr val="282929"/>
                </a:solidFill>
                <a:latin typeface="Trebuchet MS"/>
                <a:cs typeface="Trebuchet MS"/>
              </a:rPr>
              <a:t>Javiera</a:t>
            </a:r>
            <a:r>
              <a:rPr dirty="0" sz="2950" spc="-114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950" spc="125">
                <a:solidFill>
                  <a:srgbClr val="282929"/>
                </a:solidFill>
                <a:latin typeface="Trebuchet MS"/>
                <a:cs typeface="Trebuchet MS"/>
              </a:rPr>
              <a:t>Vargas</a:t>
            </a:r>
            <a:endParaRPr sz="29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14724"/>
            <a:ext cx="3747770" cy="972819"/>
          </a:xfrm>
          <a:custGeom>
            <a:avLst/>
            <a:gdLst/>
            <a:ahLst/>
            <a:cxnLst/>
            <a:rect l="l" t="t" r="r" b="b"/>
            <a:pathLst>
              <a:path w="3747770" h="972820">
                <a:moveTo>
                  <a:pt x="0" y="34476"/>
                </a:moveTo>
                <a:lnTo>
                  <a:pt x="173206" y="19589"/>
                </a:lnTo>
                <a:lnTo>
                  <a:pt x="273008" y="12844"/>
                </a:lnTo>
                <a:lnTo>
                  <a:pt x="372800" y="7472"/>
                </a:lnTo>
                <a:lnTo>
                  <a:pt x="472561" y="3513"/>
                </a:lnTo>
                <a:lnTo>
                  <a:pt x="572268" y="1009"/>
                </a:lnTo>
                <a:lnTo>
                  <a:pt x="671899" y="0"/>
                </a:lnTo>
                <a:lnTo>
                  <a:pt x="771430" y="526"/>
                </a:lnTo>
                <a:lnTo>
                  <a:pt x="870841" y="2629"/>
                </a:lnTo>
                <a:lnTo>
                  <a:pt x="970108" y="6348"/>
                </a:lnTo>
                <a:lnTo>
                  <a:pt x="1069209" y="11726"/>
                </a:lnTo>
                <a:lnTo>
                  <a:pt x="1168121" y="18802"/>
                </a:lnTo>
                <a:lnTo>
                  <a:pt x="1266822" y="27618"/>
                </a:lnTo>
                <a:lnTo>
                  <a:pt x="1365290" y="38214"/>
                </a:lnTo>
                <a:lnTo>
                  <a:pt x="1463503" y="50630"/>
                </a:lnTo>
                <a:lnTo>
                  <a:pt x="1512506" y="57534"/>
                </a:lnTo>
                <a:lnTo>
                  <a:pt x="1561437" y="64908"/>
                </a:lnTo>
                <a:lnTo>
                  <a:pt x="1610292" y="72757"/>
                </a:lnTo>
                <a:lnTo>
                  <a:pt x="1659070" y="81088"/>
                </a:lnTo>
                <a:lnTo>
                  <a:pt x="1707767" y="89904"/>
                </a:lnTo>
                <a:lnTo>
                  <a:pt x="1756380" y="99210"/>
                </a:lnTo>
                <a:lnTo>
                  <a:pt x="1804907" y="109013"/>
                </a:lnTo>
                <a:lnTo>
                  <a:pt x="1853345" y="119317"/>
                </a:lnTo>
                <a:lnTo>
                  <a:pt x="1901691" y="130127"/>
                </a:lnTo>
                <a:lnTo>
                  <a:pt x="1949942" y="141448"/>
                </a:lnTo>
                <a:lnTo>
                  <a:pt x="1998096" y="153285"/>
                </a:lnTo>
                <a:lnTo>
                  <a:pt x="2046149" y="165644"/>
                </a:lnTo>
                <a:lnTo>
                  <a:pt x="2094099" y="178529"/>
                </a:lnTo>
                <a:lnTo>
                  <a:pt x="2141943" y="191946"/>
                </a:lnTo>
                <a:lnTo>
                  <a:pt x="2189678" y="205899"/>
                </a:lnTo>
                <a:lnTo>
                  <a:pt x="2237302" y="220394"/>
                </a:lnTo>
                <a:lnTo>
                  <a:pt x="2284811" y="235436"/>
                </a:lnTo>
                <a:lnTo>
                  <a:pt x="2332695" y="251189"/>
                </a:lnTo>
                <a:lnTo>
                  <a:pt x="2380383" y="267474"/>
                </a:lnTo>
                <a:lnTo>
                  <a:pt x="2427875" y="284282"/>
                </a:lnTo>
                <a:lnTo>
                  <a:pt x="2475172" y="301602"/>
                </a:lnTo>
                <a:lnTo>
                  <a:pt x="2522275" y="319426"/>
                </a:lnTo>
                <a:lnTo>
                  <a:pt x="2569184" y="337744"/>
                </a:lnTo>
                <a:lnTo>
                  <a:pt x="2615899" y="356546"/>
                </a:lnTo>
                <a:lnTo>
                  <a:pt x="2662422" y="375823"/>
                </a:lnTo>
                <a:lnTo>
                  <a:pt x="2708752" y="395564"/>
                </a:lnTo>
                <a:lnTo>
                  <a:pt x="2754892" y="415761"/>
                </a:lnTo>
                <a:lnTo>
                  <a:pt x="2800840" y="436404"/>
                </a:lnTo>
                <a:lnTo>
                  <a:pt x="2846599" y="457483"/>
                </a:lnTo>
                <a:lnTo>
                  <a:pt x="2892167" y="478988"/>
                </a:lnTo>
                <a:lnTo>
                  <a:pt x="2937547" y="500910"/>
                </a:lnTo>
                <a:lnTo>
                  <a:pt x="2982738" y="523240"/>
                </a:lnTo>
                <a:lnTo>
                  <a:pt x="3027742" y="545968"/>
                </a:lnTo>
                <a:lnTo>
                  <a:pt x="3072559" y="569083"/>
                </a:lnTo>
                <a:lnTo>
                  <a:pt x="3117189" y="592578"/>
                </a:lnTo>
                <a:lnTo>
                  <a:pt x="3161633" y="616441"/>
                </a:lnTo>
                <a:lnTo>
                  <a:pt x="3205892" y="640663"/>
                </a:lnTo>
                <a:lnTo>
                  <a:pt x="3249966" y="665236"/>
                </a:lnTo>
                <a:lnTo>
                  <a:pt x="3293856" y="690148"/>
                </a:lnTo>
                <a:lnTo>
                  <a:pt x="3337563" y="715391"/>
                </a:lnTo>
                <a:lnTo>
                  <a:pt x="3381087" y="740955"/>
                </a:lnTo>
                <a:lnTo>
                  <a:pt x="3424429" y="766830"/>
                </a:lnTo>
                <a:lnTo>
                  <a:pt x="3467589" y="793008"/>
                </a:lnTo>
                <a:lnTo>
                  <a:pt x="3510569" y="819477"/>
                </a:lnTo>
                <a:lnTo>
                  <a:pt x="3553367" y="846229"/>
                </a:lnTo>
                <a:lnTo>
                  <a:pt x="3595987" y="873253"/>
                </a:lnTo>
                <a:lnTo>
                  <a:pt x="3638427" y="900541"/>
                </a:lnTo>
                <a:lnTo>
                  <a:pt x="3680689" y="928083"/>
                </a:lnTo>
                <a:lnTo>
                  <a:pt x="3722772" y="955869"/>
                </a:lnTo>
                <a:lnTo>
                  <a:pt x="3747297" y="972276"/>
                </a:lnTo>
                <a:lnTo>
                  <a:pt x="0" y="972276"/>
                </a:lnTo>
                <a:lnTo>
                  <a:pt x="0" y="35836"/>
                </a:lnTo>
                <a:lnTo>
                  <a:pt x="0" y="34810"/>
                </a:lnTo>
                <a:lnTo>
                  <a:pt x="0" y="34476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93790" y="2584852"/>
            <a:ext cx="5781674" cy="57816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89234" y="469196"/>
            <a:ext cx="7006590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830"/>
              </a:lnSpc>
            </a:pPr>
            <a:r>
              <a:rPr dirty="0" spc="750"/>
              <a:t>EQUIPO</a:t>
            </a:r>
            <a:r>
              <a:rPr dirty="0" spc="-254"/>
              <a:t> </a:t>
            </a:r>
            <a:r>
              <a:rPr dirty="0" spc="935"/>
              <a:t>DE </a:t>
            </a:r>
            <a:r>
              <a:rPr dirty="0" spc="645"/>
              <a:t>TRABAJO</a:t>
            </a:r>
            <a:r>
              <a:rPr dirty="0" spc="-250"/>
              <a:t> </a:t>
            </a:r>
            <a:r>
              <a:rPr dirty="0" spc="830"/>
              <a:t>Y</a:t>
            </a:r>
            <a:r>
              <a:rPr dirty="0" spc="-245"/>
              <a:t> </a:t>
            </a:r>
            <a:r>
              <a:rPr dirty="0" spc="810"/>
              <a:t>ROLES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34" y="2767421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34" y="4224746"/>
            <a:ext cx="114300" cy="1142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34" y="6167846"/>
            <a:ext cx="114300" cy="1142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734" y="7625171"/>
            <a:ext cx="114300" cy="1142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93625" y="2511509"/>
            <a:ext cx="7376795" cy="585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63550">
              <a:lnSpc>
                <a:spcPct val="113799"/>
              </a:lnSpc>
              <a:spcBef>
                <a:spcPts val="100"/>
              </a:spcBef>
            </a:pPr>
            <a:r>
              <a:rPr dirty="0" sz="2800" spc="-275" b="1">
                <a:solidFill>
                  <a:srgbClr val="282929"/>
                </a:solidFill>
                <a:latin typeface="Verdana"/>
                <a:cs typeface="Verdana"/>
              </a:rPr>
              <a:t>Ignacio</a:t>
            </a:r>
            <a:r>
              <a:rPr dirty="0" sz="2800" spc="-1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190" b="1">
                <a:solidFill>
                  <a:srgbClr val="282929"/>
                </a:solidFill>
                <a:latin typeface="Verdana"/>
                <a:cs typeface="Verdana"/>
              </a:rPr>
              <a:t>Cuevas:</a:t>
            </a:r>
            <a:r>
              <a:rPr dirty="0" sz="2800" spc="-13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Arquitectura</a:t>
            </a:r>
            <a:r>
              <a:rPr dirty="0" sz="2800" spc="1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0">
                <a:solidFill>
                  <a:srgbClr val="282929"/>
                </a:solidFill>
                <a:latin typeface="Trebuchet MS"/>
                <a:cs typeface="Trebuchet MS"/>
              </a:rPr>
              <a:t>Backend </a:t>
            </a:r>
            <a:r>
              <a:rPr dirty="0" sz="2800" spc="10">
                <a:solidFill>
                  <a:srgbClr val="282929"/>
                </a:solidFill>
                <a:latin typeface="Trebuchet MS"/>
                <a:cs typeface="Trebuchet MS"/>
              </a:rPr>
              <a:t>(Node.js/TypeScript)</a:t>
            </a:r>
            <a:r>
              <a:rPr dirty="0" sz="2800" spc="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7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800" spc="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200">
                <a:solidFill>
                  <a:srgbClr val="282929"/>
                </a:solidFill>
                <a:latin typeface="Trebuchet MS"/>
                <a:cs typeface="Trebuchet MS"/>
              </a:rPr>
              <a:t>DevOps</a:t>
            </a:r>
            <a:r>
              <a:rPr dirty="0" sz="2800" spc="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40">
                <a:solidFill>
                  <a:srgbClr val="282929"/>
                </a:solidFill>
                <a:latin typeface="Trebuchet MS"/>
                <a:cs typeface="Trebuchet MS"/>
              </a:rPr>
              <a:t>(Docker).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13799"/>
              </a:lnSpc>
            </a:pPr>
            <a:r>
              <a:rPr dirty="0" sz="2800" spc="-195" b="1">
                <a:solidFill>
                  <a:srgbClr val="282929"/>
                </a:solidFill>
                <a:latin typeface="Verdana"/>
                <a:cs typeface="Verdana"/>
              </a:rPr>
              <a:t>Javiera</a:t>
            </a:r>
            <a:r>
              <a:rPr dirty="0" sz="2800" spc="-1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210" b="1">
                <a:solidFill>
                  <a:srgbClr val="282929"/>
                </a:solidFill>
                <a:latin typeface="Verdana"/>
                <a:cs typeface="Verdana"/>
              </a:rPr>
              <a:t>Vargas:</a:t>
            </a:r>
            <a:r>
              <a:rPr dirty="0" sz="2800" spc="-1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Ingeniería</a:t>
            </a:r>
            <a:r>
              <a:rPr dirty="0" sz="2800" spc="1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30">
                <a:solidFill>
                  <a:srgbClr val="282929"/>
                </a:solidFill>
                <a:latin typeface="Trebuchet MS"/>
                <a:cs typeface="Trebuchet MS"/>
              </a:rPr>
              <a:t>Machine </a:t>
            </a:r>
            <a:r>
              <a:rPr dirty="0" sz="2800" spc="45">
                <a:solidFill>
                  <a:srgbClr val="282929"/>
                </a:solidFill>
                <a:latin typeface="Trebuchet MS"/>
                <a:cs typeface="Trebuchet MS"/>
              </a:rPr>
              <a:t>Learning,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50">
                <a:solidFill>
                  <a:srgbClr val="282929"/>
                </a:solidFill>
                <a:latin typeface="Trebuchet MS"/>
                <a:cs typeface="Trebuchet MS"/>
              </a:rPr>
              <a:t>Datos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282929"/>
                </a:solidFill>
                <a:latin typeface="Trebuchet MS"/>
                <a:cs typeface="Trebuchet MS"/>
              </a:rPr>
              <a:t>Sintéticos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7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Aseguramiento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80">
                <a:solidFill>
                  <a:srgbClr val="282929"/>
                </a:solidFill>
                <a:latin typeface="Trebuchet MS"/>
                <a:cs typeface="Trebuchet MS"/>
              </a:rPr>
              <a:t>Calidad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-20">
                <a:solidFill>
                  <a:srgbClr val="282929"/>
                </a:solidFill>
                <a:latin typeface="Trebuchet MS"/>
                <a:cs typeface="Trebuchet MS"/>
              </a:rPr>
              <a:t>(QA).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690880">
              <a:lnSpc>
                <a:spcPct val="113799"/>
              </a:lnSpc>
            </a:pPr>
            <a:r>
              <a:rPr dirty="0" sz="2800" spc="-195" b="1">
                <a:solidFill>
                  <a:srgbClr val="282929"/>
                </a:solidFill>
                <a:latin typeface="Verdana"/>
                <a:cs typeface="Verdana"/>
              </a:rPr>
              <a:t>Matías</a:t>
            </a:r>
            <a:r>
              <a:rPr dirty="0" sz="2800" spc="-2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175" b="1">
                <a:solidFill>
                  <a:srgbClr val="282929"/>
                </a:solidFill>
                <a:latin typeface="Verdana"/>
                <a:cs typeface="Verdana"/>
              </a:rPr>
              <a:t>Carrasco:</a:t>
            </a:r>
            <a:r>
              <a:rPr dirty="0" sz="2800" spc="-26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70">
                <a:solidFill>
                  <a:srgbClr val="282929"/>
                </a:solidFill>
                <a:latin typeface="Trebuchet MS"/>
                <a:cs typeface="Trebuchet MS"/>
              </a:rPr>
              <a:t>Desarrollo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0">
                <a:solidFill>
                  <a:srgbClr val="282929"/>
                </a:solidFill>
                <a:latin typeface="Trebuchet MS"/>
                <a:cs typeface="Trebuchet MS"/>
              </a:rPr>
              <a:t>Frontend </a:t>
            </a:r>
            <a:r>
              <a:rPr dirty="0" sz="2800" spc="50">
                <a:solidFill>
                  <a:srgbClr val="282929"/>
                </a:solidFill>
                <a:latin typeface="Trebuchet MS"/>
                <a:cs typeface="Trebuchet MS"/>
              </a:rPr>
              <a:t>(React/TypeScript)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90">
                <a:solidFill>
                  <a:srgbClr val="282929"/>
                </a:solidFill>
                <a:latin typeface="Trebuchet MS"/>
                <a:cs typeface="Trebuchet MS"/>
              </a:rPr>
              <a:t>e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0">
                <a:solidFill>
                  <a:srgbClr val="282929"/>
                </a:solidFill>
                <a:latin typeface="Trebuchet MS"/>
                <a:cs typeface="Trebuchet MS"/>
              </a:rPr>
              <a:t>Integración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282929"/>
                </a:solidFill>
                <a:latin typeface="Trebuchet MS"/>
                <a:cs typeface="Trebuchet MS"/>
              </a:rPr>
              <a:t>UI/UX.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287020">
              <a:lnSpc>
                <a:spcPct val="113799"/>
              </a:lnSpc>
            </a:pPr>
            <a:r>
              <a:rPr dirty="0" sz="2800" spc="-290" b="1">
                <a:solidFill>
                  <a:srgbClr val="282929"/>
                </a:solidFill>
                <a:latin typeface="Verdana"/>
                <a:cs typeface="Verdana"/>
              </a:rPr>
              <a:t>Benjamín </a:t>
            </a:r>
            <a:r>
              <a:rPr dirty="0" sz="2800" spc="-225" b="1">
                <a:solidFill>
                  <a:srgbClr val="282929"/>
                </a:solidFill>
                <a:latin typeface="Verdana"/>
                <a:cs typeface="Verdana"/>
              </a:rPr>
              <a:t>Berríos:</a:t>
            </a:r>
            <a:r>
              <a:rPr dirty="0" sz="2800" spc="-1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120">
                <a:solidFill>
                  <a:srgbClr val="282929"/>
                </a:solidFill>
                <a:latin typeface="Trebuchet MS"/>
                <a:cs typeface="Trebuchet MS"/>
              </a:rPr>
              <a:t>Lógica</a:t>
            </a:r>
            <a:r>
              <a:rPr dirty="0" sz="28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Negocio, </a:t>
            </a:r>
            <a:r>
              <a:rPr dirty="0" sz="2800" spc="70">
                <a:solidFill>
                  <a:srgbClr val="282929"/>
                </a:solidFill>
                <a:latin typeface="Trebuchet MS"/>
                <a:cs typeface="Trebuchet MS"/>
              </a:rPr>
              <a:t>Normativa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5">
                <a:solidFill>
                  <a:srgbClr val="282929"/>
                </a:solidFill>
                <a:latin typeface="Trebuchet MS"/>
                <a:cs typeface="Trebuchet MS"/>
              </a:rPr>
              <a:t>Laboral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7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Gestión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Personas.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6688" y="2039160"/>
            <a:ext cx="4475717" cy="654495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177" rIns="0" bIns="0" rtlCol="0" vert="horz">
            <a:spAutoFit/>
          </a:bodyPr>
          <a:lstStyle/>
          <a:p>
            <a:pPr marL="5843905" marR="5080" indent="-2211705">
              <a:lnSpc>
                <a:spcPts val="6830"/>
              </a:lnSpc>
            </a:pPr>
            <a:r>
              <a:rPr dirty="0" spc="940"/>
              <a:t>EL</a:t>
            </a:r>
            <a:r>
              <a:rPr dirty="0" spc="-250"/>
              <a:t> </a:t>
            </a:r>
            <a:r>
              <a:rPr dirty="0" spc="570"/>
              <a:t>DESAFÍO:</a:t>
            </a:r>
            <a:r>
              <a:rPr dirty="0" spc="-245"/>
              <a:t> </a:t>
            </a:r>
            <a:r>
              <a:rPr dirty="0" spc="785"/>
              <a:t>LATENCIA</a:t>
            </a:r>
            <a:r>
              <a:rPr dirty="0" spc="-245"/>
              <a:t> </a:t>
            </a:r>
            <a:r>
              <a:rPr dirty="0" spc="1065"/>
              <a:t>EN </a:t>
            </a:r>
            <a:r>
              <a:rPr dirty="0" spc="815"/>
              <a:t>EMERGENCIAS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9167341"/>
            <a:ext cx="4054475" cy="1120140"/>
          </a:xfrm>
          <a:custGeom>
            <a:avLst/>
            <a:gdLst/>
            <a:ahLst/>
            <a:cxnLst/>
            <a:rect l="l" t="t" r="r" b="b"/>
            <a:pathLst>
              <a:path w="4054475" h="1120140">
                <a:moveTo>
                  <a:pt x="0" y="44310"/>
                </a:moveTo>
                <a:lnTo>
                  <a:pt x="118785" y="32191"/>
                </a:lnTo>
                <a:lnTo>
                  <a:pt x="268456" y="19589"/>
                </a:lnTo>
                <a:lnTo>
                  <a:pt x="368258" y="12844"/>
                </a:lnTo>
                <a:lnTo>
                  <a:pt x="468050" y="7472"/>
                </a:lnTo>
                <a:lnTo>
                  <a:pt x="567811" y="3513"/>
                </a:lnTo>
                <a:lnTo>
                  <a:pt x="667518" y="1009"/>
                </a:lnTo>
                <a:lnTo>
                  <a:pt x="767149" y="0"/>
                </a:lnTo>
                <a:lnTo>
                  <a:pt x="866680" y="526"/>
                </a:lnTo>
                <a:lnTo>
                  <a:pt x="966091" y="2629"/>
                </a:lnTo>
                <a:lnTo>
                  <a:pt x="1065358" y="6348"/>
                </a:lnTo>
                <a:lnTo>
                  <a:pt x="1164459" y="11726"/>
                </a:lnTo>
                <a:lnTo>
                  <a:pt x="1263371" y="18802"/>
                </a:lnTo>
                <a:lnTo>
                  <a:pt x="1362072" y="27618"/>
                </a:lnTo>
                <a:lnTo>
                  <a:pt x="1460540" y="38214"/>
                </a:lnTo>
                <a:lnTo>
                  <a:pt x="1558753" y="50630"/>
                </a:lnTo>
                <a:lnTo>
                  <a:pt x="1607756" y="57534"/>
                </a:lnTo>
                <a:lnTo>
                  <a:pt x="1656687" y="64908"/>
                </a:lnTo>
                <a:lnTo>
                  <a:pt x="1705542" y="72757"/>
                </a:lnTo>
                <a:lnTo>
                  <a:pt x="1754320" y="81088"/>
                </a:lnTo>
                <a:lnTo>
                  <a:pt x="1803017" y="89904"/>
                </a:lnTo>
                <a:lnTo>
                  <a:pt x="1851630" y="99210"/>
                </a:lnTo>
                <a:lnTo>
                  <a:pt x="1900157" y="109013"/>
                </a:lnTo>
                <a:lnTo>
                  <a:pt x="1948595" y="119317"/>
                </a:lnTo>
                <a:lnTo>
                  <a:pt x="1996941" y="130127"/>
                </a:lnTo>
                <a:lnTo>
                  <a:pt x="2045192" y="141448"/>
                </a:lnTo>
                <a:lnTo>
                  <a:pt x="2093346" y="153285"/>
                </a:lnTo>
                <a:lnTo>
                  <a:pt x="2141399" y="165644"/>
                </a:lnTo>
                <a:lnTo>
                  <a:pt x="2189349" y="178529"/>
                </a:lnTo>
                <a:lnTo>
                  <a:pt x="2237193" y="191946"/>
                </a:lnTo>
                <a:lnTo>
                  <a:pt x="2284928" y="205899"/>
                </a:lnTo>
                <a:lnTo>
                  <a:pt x="2332551" y="220394"/>
                </a:lnTo>
                <a:lnTo>
                  <a:pt x="2380061" y="235436"/>
                </a:lnTo>
                <a:lnTo>
                  <a:pt x="2427945" y="251189"/>
                </a:lnTo>
                <a:lnTo>
                  <a:pt x="2475633" y="267474"/>
                </a:lnTo>
                <a:lnTo>
                  <a:pt x="2523125" y="284282"/>
                </a:lnTo>
                <a:lnTo>
                  <a:pt x="2570422" y="301602"/>
                </a:lnTo>
                <a:lnTo>
                  <a:pt x="2617525" y="319426"/>
                </a:lnTo>
                <a:lnTo>
                  <a:pt x="2664434" y="337744"/>
                </a:lnTo>
                <a:lnTo>
                  <a:pt x="2711149" y="356546"/>
                </a:lnTo>
                <a:lnTo>
                  <a:pt x="2757672" y="375823"/>
                </a:lnTo>
                <a:lnTo>
                  <a:pt x="2804002" y="395564"/>
                </a:lnTo>
                <a:lnTo>
                  <a:pt x="2850142" y="415761"/>
                </a:lnTo>
                <a:lnTo>
                  <a:pt x="2896090" y="436404"/>
                </a:lnTo>
                <a:lnTo>
                  <a:pt x="2941849" y="457483"/>
                </a:lnTo>
                <a:lnTo>
                  <a:pt x="2987417" y="478988"/>
                </a:lnTo>
                <a:lnTo>
                  <a:pt x="3032797" y="500910"/>
                </a:lnTo>
                <a:lnTo>
                  <a:pt x="3077988" y="523240"/>
                </a:lnTo>
                <a:lnTo>
                  <a:pt x="3122992" y="545968"/>
                </a:lnTo>
                <a:lnTo>
                  <a:pt x="3167809" y="569083"/>
                </a:lnTo>
                <a:lnTo>
                  <a:pt x="3212439" y="592578"/>
                </a:lnTo>
                <a:lnTo>
                  <a:pt x="3256883" y="616441"/>
                </a:lnTo>
                <a:lnTo>
                  <a:pt x="3301142" y="640663"/>
                </a:lnTo>
                <a:lnTo>
                  <a:pt x="3345216" y="665236"/>
                </a:lnTo>
                <a:lnTo>
                  <a:pt x="3389106" y="690148"/>
                </a:lnTo>
                <a:lnTo>
                  <a:pt x="3432813" y="715391"/>
                </a:lnTo>
                <a:lnTo>
                  <a:pt x="3476337" y="740955"/>
                </a:lnTo>
                <a:lnTo>
                  <a:pt x="3519679" y="766830"/>
                </a:lnTo>
                <a:lnTo>
                  <a:pt x="3562839" y="793008"/>
                </a:lnTo>
                <a:lnTo>
                  <a:pt x="3605818" y="819477"/>
                </a:lnTo>
                <a:lnTo>
                  <a:pt x="3648617" y="846229"/>
                </a:lnTo>
                <a:lnTo>
                  <a:pt x="3691237" y="873253"/>
                </a:lnTo>
                <a:lnTo>
                  <a:pt x="3733677" y="900541"/>
                </a:lnTo>
                <a:lnTo>
                  <a:pt x="3775939" y="928083"/>
                </a:lnTo>
                <a:lnTo>
                  <a:pt x="3818022" y="955869"/>
                </a:lnTo>
                <a:lnTo>
                  <a:pt x="3860555" y="984322"/>
                </a:lnTo>
                <a:lnTo>
                  <a:pt x="3902947" y="1013093"/>
                </a:lnTo>
                <a:lnTo>
                  <a:pt x="3945174" y="1042194"/>
                </a:lnTo>
                <a:lnTo>
                  <a:pt x="3987208" y="1071637"/>
                </a:lnTo>
                <a:lnTo>
                  <a:pt x="4029025" y="1101437"/>
                </a:lnTo>
                <a:lnTo>
                  <a:pt x="4054133" y="1119657"/>
                </a:lnTo>
                <a:lnTo>
                  <a:pt x="0" y="1119657"/>
                </a:lnTo>
                <a:lnTo>
                  <a:pt x="0" y="46437"/>
                </a:lnTo>
                <a:lnTo>
                  <a:pt x="0" y="45411"/>
                </a:lnTo>
                <a:lnTo>
                  <a:pt x="0" y="4431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201015" y="0"/>
            <a:ext cx="4087495" cy="1071245"/>
          </a:xfrm>
          <a:custGeom>
            <a:avLst/>
            <a:gdLst/>
            <a:ahLst/>
            <a:cxnLst/>
            <a:rect l="l" t="t" r="r" b="b"/>
            <a:pathLst>
              <a:path w="4087494" h="1071245">
                <a:moveTo>
                  <a:pt x="0" y="0"/>
                </a:moveTo>
                <a:lnTo>
                  <a:pt x="4086984" y="0"/>
                </a:lnTo>
                <a:lnTo>
                  <a:pt x="4086984" y="1070911"/>
                </a:lnTo>
                <a:lnTo>
                  <a:pt x="2761153" y="99235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8685" y="2039160"/>
            <a:ext cx="4475717" cy="65449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10685" y="2039160"/>
            <a:ext cx="4475717" cy="65449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10687" y="3177653"/>
            <a:ext cx="2855595" cy="2529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500" b="1">
                <a:solidFill>
                  <a:srgbClr val="282929"/>
                </a:solidFill>
                <a:latin typeface="Cambria"/>
                <a:cs typeface="Cambria"/>
              </a:rPr>
              <a:t>EL</a:t>
            </a:r>
            <a:r>
              <a:rPr dirty="0" sz="3000" spc="-135" b="1">
                <a:solidFill>
                  <a:srgbClr val="282929"/>
                </a:solidFill>
                <a:latin typeface="Cambria"/>
                <a:cs typeface="Cambria"/>
              </a:rPr>
              <a:t> </a:t>
            </a:r>
            <a:r>
              <a:rPr dirty="0" sz="3000" spc="430" b="1">
                <a:solidFill>
                  <a:srgbClr val="282929"/>
                </a:solidFill>
                <a:latin typeface="Cambria"/>
                <a:cs typeface="Cambria"/>
              </a:rPr>
              <a:t>IMPACTO</a:t>
            </a:r>
            <a:endParaRPr sz="3000">
              <a:latin typeface="Cambria"/>
              <a:cs typeface="Cambria"/>
            </a:endParaRPr>
          </a:p>
          <a:p>
            <a:pPr algn="ctr" marL="12065" marR="5080" indent="-635">
              <a:lnSpc>
                <a:spcPct val="108000"/>
              </a:lnSpc>
              <a:spcBef>
                <a:spcPts val="1860"/>
              </a:spcBef>
            </a:pP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Alta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siniestralidad,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pérdida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30">
                <a:solidFill>
                  <a:srgbClr val="282929"/>
                </a:solidFill>
                <a:latin typeface="Verdana"/>
                <a:cs typeface="Verdana"/>
              </a:rPr>
              <a:t>activos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y </a:t>
            </a:r>
            <a:r>
              <a:rPr dirty="0" sz="2200" spc="-85">
                <a:solidFill>
                  <a:srgbClr val="282929"/>
                </a:solidFill>
                <a:latin typeface="Verdana"/>
                <a:cs typeface="Verdana"/>
              </a:rPr>
              <a:t>multas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por </a:t>
            </a: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incumplimiento</a:t>
            </a:r>
            <a:r>
              <a:rPr dirty="0" sz="2200" spc="-14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200" spc="-14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la </a:t>
            </a:r>
            <a:r>
              <a:rPr dirty="0" sz="2200" spc="-35">
                <a:solidFill>
                  <a:srgbClr val="282929"/>
                </a:solidFill>
                <a:latin typeface="Verdana"/>
                <a:cs typeface="Verdana"/>
              </a:rPr>
              <a:t>Ley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5">
                <a:solidFill>
                  <a:srgbClr val="282929"/>
                </a:solidFill>
                <a:latin typeface="Verdana"/>
                <a:cs typeface="Verdana"/>
              </a:rPr>
              <a:t>Laboral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5">
                <a:solidFill>
                  <a:srgbClr val="282929"/>
                </a:solidFill>
                <a:latin typeface="Verdana"/>
                <a:cs typeface="Verdana"/>
              </a:rPr>
              <a:t>(Art.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38).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429473" y="3177653"/>
            <a:ext cx="3041650" cy="2529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500" b="1">
                <a:solidFill>
                  <a:srgbClr val="282929"/>
                </a:solidFill>
                <a:latin typeface="Cambria"/>
                <a:cs typeface="Cambria"/>
              </a:rPr>
              <a:t>EL</a:t>
            </a:r>
            <a:r>
              <a:rPr dirty="0" sz="3000" spc="-135" b="1">
                <a:solidFill>
                  <a:srgbClr val="282929"/>
                </a:solidFill>
                <a:latin typeface="Cambria"/>
                <a:cs typeface="Cambria"/>
              </a:rPr>
              <a:t> </a:t>
            </a:r>
            <a:r>
              <a:rPr dirty="0" sz="3000" spc="355" b="1">
                <a:solidFill>
                  <a:srgbClr val="282929"/>
                </a:solidFill>
                <a:latin typeface="Cambria"/>
                <a:cs typeface="Cambria"/>
              </a:rPr>
              <a:t>OBJETIVO</a:t>
            </a:r>
            <a:endParaRPr sz="3000">
              <a:latin typeface="Cambria"/>
              <a:cs typeface="Cambria"/>
            </a:endParaRPr>
          </a:p>
          <a:p>
            <a:pPr algn="ctr" marL="12065" marR="5080">
              <a:lnSpc>
                <a:spcPct val="108000"/>
              </a:lnSpc>
              <a:spcBef>
                <a:spcPts val="1860"/>
              </a:spcBef>
            </a:pP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Desarrollar</a:t>
            </a:r>
            <a:r>
              <a:rPr dirty="0" sz="2200" spc="-14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95">
                <a:solidFill>
                  <a:srgbClr val="282929"/>
                </a:solidFill>
                <a:latin typeface="Verdana"/>
                <a:cs typeface="Verdana"/>
              </a:rPr>
              <a:t>un</a:t>
            </a:r>
            <a:r>
              <a:rPr dirty="0" sz="2200" spc="-13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45">
                <a:solidFill>
                  <a:srgbClr val="282929"/>
                </a:solidFill>
                <a:latin typeface="Verdana"/>
                <a:cs typeface="Verdana"/>
              </a:rPr>
              <a:t>MVP </a:t>
            </a:r>
            <a:r>
              <a:rPr dirty="0" sz="2200" spc="-20">
                <a:solidFill>
                  <a:srgbClr val="282929"/>
                </a:solidFill>
                <a:latin typeface="Verdana"/>
                <a:cs typeface="Verdana"/>
              </a:rPr>
              <a:t>web</a:t>
            </a:r>
            <a:r>
              <a:rPr dirty="0" sz="2200" spc="-18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40">
                <a:solidFill>
                  <a:srgbClr val="282929"/>
                </a:solidFill>
                <a:latin typeface="Verdana"/>
                <a:cs typeface="Verdana"/>
              </a:rPr>
              <a:t>transaccional</a:t>
            </a:r>
            <a:r>
              <a:rPr dirty="0" sz="2200" spc="-18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que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evalúe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variables </a:t>
            </a:r>
            <a:r>
              <a:rPr dirty="0" sz="2200" spc="-60">
                <a:solidFill>
                  <a:srgbClr val="282929"/>
                </a:solidFill>
                <a:latin typeface="Verdana"/>
                <a:cs typeface="Verdana"/>
              </a:rPr>
              <a:t>operativas</a:t>
            </a:r>
            <a:r>
              <a:rPr dirty="0" sz="2200" spc="-15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y</a:t>
            </a:r>
            <a:r>
              <a:rPr dirty="0" sz="2200" spc="-15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282929"/>
                </a:solidFill>
                <a:latin typeface="Verdana"/>
                <a:cs typeface="Verdana"/>
              </a:rPr>
              <a:t>emita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alertas</a:t>
            </a:r>
            <a:r>
              <a:rPr dirty="0" sz="2200" spc="-13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tempranas.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29256" y="3177653"/>
            <a:ext cx="3594100" cy="2167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000" spc="500" b="1">
                <a:solidFill>
                  <a:srgbClr val="282929"/>
                </a:solidFill>
                <a:latin typeface="Cambria"/>
                <a:cs typeface="Cambria"/>
              </a:rPr>
              <a:t>EL</a:t>
            </a:r>
            <a:r>
              <a:rPr dirty="0" sz="3000" spc="-135" b="1">
                <a:solidFill>
                  <a:srgbClr val="282929"/>
                </a:solidFill>
                <a:latin typeface="Cambria"/>
                <a:cs typeface="Cambria"/>
              </a:rPr>
              <a:t> </a:t>
            </a:r>
            <a:r>
              <a:rPr dirty="0" sz="3000" spc="420" b="1">
                <a:solidFill>
                  <a:srgbClr val="282929"/>
                </a:solidFill>
                <a:latin typeface="Cambria"/>
                <a:cs typeface="Cambria"/>
              </a:rPr>
              <a:t>PROBLEMA</a:t>
            </a:r>
            <a:endParaRPr sz="3000">
              <a:latin typeface="Cambria"/>
              <a:cs typeface="Cambria"/>
            </a:endParaRPr>
          </a:p>
          <a:p>
            <a:pPr algn="ctr" marL="12700" marR="5080">
              <a:lnSpc>
                <a:spcPct val="108000"/>
              </a:lnSpc>
              <a:spcBef>
                <a:spcPts val="1860"/>
              </a:spcBef>
            </a:pPr>
            <a:r>
              <a:rPr dirty="0" sz="2200" spc="-45">
                <a:solidFill>
                  <a:srgbClr val="282929"/>
                </a:solidFill>
                <a:latin typeface="Verdana"/>
                <a:cs typeface="Verdana"/>
              </a:rPr>
              <a:t>La</a:t>
            </a:r>
            <a:r>
              <a:rPr dirty="0" sz="2200" spc="-15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industria</a:t>
            </a:r>
            <a:r>
              <a:rPr dirty="0" sz="2200" spc="-14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logística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gestiona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la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5">
                <a:solidFill>
                  <a:srgbClr val="282929"/>
                </a:solidFill>
                <a:latin typeface="Verdana"/>
                <a:cs typeface="Verdana"/>
              </a:rPr>
              <a:t>fatiga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forma </a:t>
            </a:r>
            <a:r>
              <a:rPr dirty="0" sz="2200" spc="-55">
                <a:solidFill>
                  <a:srgbClr val="282929"/>
                </a:solidFill>
                <a:latin typeface="Verdana"/>
                <a:cs typeface="Verdana"/>
              </a:rPr>
              <a:t>reactiva</a:t>
            </a:r>
            <a:r>
              <a:rPr dirty="0" sz="2200" spc="-16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85">
                <a:solidFill>
                  <a:srgbClr val="282929"/>
                </a:solidFill>
                <a:latin typeface="Verdana"/>
                <a:cs typeface="Verdana"/>
              </a:rPr>
              <a:t>(tras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el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accidente </a:t>
            </a:r>
            <a:r>
              <a:rPr dirty="0" sz="2200" spc="-20">
                <a:solidFill>
                  <a:srgbClr val="282929"/>
                </a:solidFill>
                <a:latin typeface="Verdana"/>
                <a:cs typeface="Verdana"/>
              </a:rPr>
              <a:t>o</a:t>
            </a:r>
            <a:r>
              <a:rPr dirty="0" sz="2200" spc="-18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0">
                <a:solidFill>
                  <a:srgbClr val="282929"/>
                </a:solidFill>
                <a:latin typeface="Verdana"/>
                <a:cs typeface="Verdana"/>
              </a:rPr>
              <a:t>el</a:t>
            </a:r>
            <a:r>
              <a:rPr dirty="0" sz="2200" spc="-18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burnout).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80657" y="8863541"/>
            <a:ext cx="9126855" cy="111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8000"/>
              </a:lnSpc>
              <a:spcBef>
                <a:spcPts val="95"/>
              </a:spcBef>
            </a:pPr>
            <a:r>
              <a:rPr dirty="0" sz="2200" spc="-45">
                <a:solidFill>
                  <a:srgbClr val="282929"/>
                </a:solidFill>
                <a:latin typeface="Verdana"/>
                <a:cs typeface="Verdana"/>
              </a:rPr>
              <a:t>La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85">
                <a:solidFill>
                  <a:srgbClr val="282929"/>
                </a:solidFill>
                <a:latin typeface="Verdana"/>
                <a:cs typeface="Verdana"/>
              </a:rPr>
              <a:t>Solución: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20">
                <a:solidFill>
                  <a:srgbClr val="282929"/>
                </a:solidFill>
                <a:latin typeface="Verdana"/>
                <a:cs typeface="Verdana"/>
              </a:rPr>
              <a:t>Implementar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95">
                <a:solidFill>
                  <a:srgbClr val="282929"/>
                </a:solidFill>
                <a:latin typeface="Verdana"/>
                <a:cs typeface="Verdana"/>
              </a:rPr>
              <a:t>un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90">
                <a:solidFill>
                  <a:srgbClr val="282929"/>
                </a:solidFill>
                <a:latin typeface="Verdana"/>
                <a:cs typeface="Verdana"/>
              </a:rPr>
              <a:t>motor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Machine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Learning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55">
                <a:solidFill>
                  <a:srgbClr val="282929"/>
                </a:solidFill>
                <a:latin typeface="Verdana"/>
                <a:cs typeface="Verdana"/>
              </a:rPr>
              <a:t>que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analice </a:t>
            </a:r>
            <a:r>
              <a:rPr dirty="0" sz="2200" spc="-60">
                <a:solidFill>
                  <a:srgbClr val="282929"/>
                </a:solidFill>
                <a:latin typeface="Verdana"/>
                <a:cs typeface="Verdana"/>
              </a:rPr>
              <a:t>historial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0">
                <a:solidFill>
                  <a:srgbClr val="282929"/>
                </a:solidFill>
                <a:latin typeface="Verdana"/>
                <a:cs typeface="Verdana"/>
              </a:rPr>
              <a:t>turnos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y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0">
                <a:solidFill>
                  <a:srgbClr val="282929"/>
                </a:solidFill>
                <a:latin typeface="Verdana"/>
                <a:cs typeface="Verdana"/>
              </a:rPr>
              <a:t>accione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45">
                <a:solidFill>
                  <a:srgbClr val="282929"/>
                </a:solidFill>
                <a:latin typeface="Verdana"/>
                <a:cs typeface="Verdana"/>
              </a:rPr>
              <a:t>reasignaciones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en</a:t>
            </a:r>
            <a:r>
              <a:rPr dirty="0" sz="2200" spc="-16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tiempo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real</a:t>
            </a:r>
            <a:r>
              <a:rPr dirty="0" sz="2200" spc="-155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25">
                <a:solidFill>
                  <a:srgbClr val="282929"/>
                </a:solidFill>
                <a:latin typeface="Verdana"/>
                <a:cs typeface="Verdana"/>
              </a:rPr>
              <a:t>sin </a:t>
            </a:r>
            <a:r>
              <a:rPr dirty="0" sz="2200" spc="-75">
                <a:solidFill>
                  <a:srgbClr val="282929"/>
                </a:solidFill>
                <a:latin typeface="Verdana"/>
                <a:cs typeface="Verdana"/>
              </a:rPr>
              <a:t>requerir</a:t>
            </a:r>
            <a:r>
              <a:rPr dirty="0" sz="2200" spc="-14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65">
                <a:solidFill>
                  <a:srgbClr val="282929"/>
                </a:solidFill>
                <a:latin typeface="Verdana"/>
                <a:cs typeface="Verdana"/>
              </a:rPr>
              <a:t>hardware</a:t>
            </a:r>
            <a:r>
              <a:rPr dirty="0" sz="2200" spc="-140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>
                <a:solidFill>
                  <a:srgbClr val="282929"/>
                </a:solidFill>
                <a:latin typeface="Verdana"/>
                <a:cs typeface="Verdana"/>
              </a:rPr>
              <a:t>invasivo.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167341"/>
            <a:ext cx="4054475" cy="1120140"/>
          </a:xfrm>
          <a:custGeom>
            <a:avLst/>
            <a:gdLst/>
            <a:ahLst/>
            <a:cxnLst/>
            <a:rect l="l" t="t" r="r" b="b"/>
            <a:pathLst>
              <a:path w="4054475" h="1120140">
                <a:moveTo>
                  <a:pt x="0" y="44310"/>
                </a:moveTo>
                <a:lnTo>
                  <a:pt x="118785" y="32191"/>
                </a:lnTo>
                <a:lnTo>
                  <a:pt x="268456" y="19589"/>
                </a:lnTo>
                <a:lnTo>
                  <a:pt x="368258" y="12844"/>
                </a:lnTo>
                <a:lnTo>
                  <a:pt x="468050" y="7472"/>
                </a:lnTo>
                <a:lnTo>
                  <a:pt x="567811" y="3513"/>
                </a:lnTo>
                <a:lnTo>
                  <a:pt x="667518" y="1009"/>
                </a:lnTo>
                <a:lnTo>
                  <a:pt x="767149" y="0"/>
                </a:lnTo>
                <a:lnTo>
                  <a:pt x="866680" y="526"/>
                </a:lnTo>
                <a:lnTo>
                  <a:pt x="966091" y="2629"/>
                </a:lnTo>
                <a:lnTo>
                  <a:pt x="1065358" y="6348"/>
                </a:lnTo>
                <a:lnTo>
                  <a:pt x="1164459" y="11726"/>
                </a:lnTo>
                <a:lnTo>
                  <a:pt x="1263371" y="18802"/>
                </a:lnTo>
                <a:lnTo>
                  <a:pt x="1362072" y="27618"/>
                </a:lnTo>
                <a:lnTo>
                  <a:pt x="1460540" y="38214"/>
                </a:lnTo>
                <a:lnTo>
                  <a:pt x="1558753" y="50630"/>
                </a:lnTo>
                <a:lnTo>
                  <a:pt x="1607756" y="57534"/>
                </a:lnTo>
                <a:lnTo>
                  <a:pt x="1656687" y="64908"/>
                </a:lnTo>
                <a:lnTo>
                  <a:pt x="1705542" y="72757"/>
                </a:lnTo>
                <a:lnTo>
                  <a:pt x="1754320" y="81088"/>
                </a:lnTo>
                <a:lnTo>
                  <a:pt x="1803017" y="89904"/>
                </a:lnTo>
                <a:lnTo>
                  <a:pt x="1851630" y="99210"/>
                </a:lnTo>
                <a:lnTo>
                  <a:pt x="1900157" y="109013"/>
                </a:lnTo>
                <a:lnTo>
                  <a:pt x="1948595" y="119317"/>
                </a:lnTo>
                <a:lnTo>
                  <a:pt x="1996941" y="130127"/>
                </a:lnTo>
                <a:lnTo>
                  <a:pt x="2045192" y="141448"/>
                </a:lnTo>
                <a:lnTo>
                  <a:pt x="2093346" y="153285"/>
                </a:lnTo>
                <a:lnTo>
                  <a:pt x="2141399" y="165644"/>
                </a:lnTo>
                <a:lnTo>
                  <a:pt x="2189349" y="178529"/>
                </a:lnTo>
                <a:lnTo>
                  <a:pt x="2237193" y="191946"/>
                </a:lnTo>
                <a:lnTo>
                  <a:pt x="2284928" y="205899"/>
                </a:lnTo>
                <a:lnTo>
                  <a:pt x="2332551" y="220394"/>
                </a:lnTo>
                <a:lnTo>
                  <a:pt x="2380061" y="235436"/>
                </a:lnTo>
                <a:lnTo>
                  <a:pt x="2427945" y="251189"/>
                </a:lnTo>
                <a:lnTo>
                  <a:pt x="2475633" y="267474"/>
                </a:lnTo>
                <a:lnTo>
                  <a:pt x="2523125" y="284282"/>
                </a:lnTo>
                <a:lnTo>
                  <a:pt x="2570422" y="301602"/>
                </a:lnTo>
                <a:lnTo>
                  <a:pt x="2617525" y="319426"/>
                </a:lnTo>
                <a:lnTo>
                  <a:pt x="2664434" y="337744"/>
                </a:lnTo>
                <a:lnTo>
                  <a:pt x="2711149" y="356546"/>
                </a:lnTo>
                <a:lnTo>
                  <a:pt x="2757672" y="375823"/>
                </a:lnTo>
                <a:lnTo>
                  <a:pt x="2804002" y="395564"/>
                </a:lnTo>
                <a:lnTo>
                  <a:pt x="2850142" y="415761"/>
                </a:lnTo>
                <a:lnTo>
                  <a:pt x="2896090" y="436404"/>
                </a:lnTo>
                <a:lnTo>
                  <a:pt x="2941849" y="457483"/>
                </a:lnTo>
                <a:lnTo>
                  <a:pt x="2987417" y="478988"/>
                </a:lnTo>
                <a:lnTo>
                  <a:pt x="3032797" y="500910"/>
                </a:lnTo>
                <a:lnTo>
                  <a:pt x="3077988" y="523240"/>
                </a:lnTo>
                <a:lnTo>
                  <a:pt x="3122992" y="545968"/>
                </a:lnTo>
                <a:lnTo>
                  <a:pt x="3167809" y="569083"/>
                </a:lnTo>
                <a:lnTo>
                  <a:pt x="3212439" y="592578"/>
                </a:lnTo>
                <a:lnTo>
                  <a:pt x="3256883" y="616441"/>
                </a:lnTo>
                <a:lnTo>
                  <a:pt x="3301142" y="640663"/>
                </a:lnTo>
                <a:lnTo>
                  <a:pt x="3345216" y="665236"/>
                </a:lnTo>
                <a:lnTo>
                  <a:pt x="3389106" y="690148"/>
                </a:lnTo>
                <a:lnTo>
                  <a:pt x="3432813" y="715391"/>
                </a:lnTo>
                <a:lnTo>
                  <a:pt x="3476337" y="740955"/>
                </a:lnTo>
                <a:lnTo>
                  <a:pt x="3519679" y="766830"/>
                </a:lnTo>
                <a:lnTo>
                  <a:pt x="3562839" y="793008"/>
                </a:lnTo>
                <a:lnTo>
                  <a:pt x="3605818" y="819477"/>
                </a:lnTo>
                <a:lnTo>
                  <a:pt x="3648617" y="846229"/>
                </a:lnTo>
                <a:lnTo>
                  <a:pt x="3691237" y="873253"/>
                </a:lnTo>
                <a:lnTo>
                  <a:pt x="3733677" y="900541"/>
                </a:lnTo>
                <a:lnTo>
                  <a:pt x="3775939" y="928083"/>
                </a:lnTo>
                <a:lnTo>
                  <a:pt x="3818022" y="955869"/>
                </a:lnTo>
                <a:lnTo>
                  <a:pt x="3860555" y="984322"/>
                </a:lnTo>
                <a:lnTo>
                  <a:pt x="3902947" y="1013093"/>
                </a:lnTo>
                <a:lnTo>
                  <a:pt x="3945174" y="1042194"/>
                </a:lnTo>
                <a:lnTo>
                  <a:pt x="3987208" y="1071637"/>
                </a:lnTo>
                <a:lnTo>
                  <a:pt x="4029025" y="1101437"/>
                </a:lnTo>
                <a:lnTo>
                  <a:pt x="4054133" y="1119657"/>
                </a:lnTo>
                <a:lnTo>
                  <a:pt x="0" y="1119657"/>
                </a:lnTo>
                <a:lnTo>
                  <a:pt x="0" y="46437"/>
                </a:lnTo>
                <a:lnTo>
                  <a:pt x="0" y="45411"/>
                </a:lnTo>
                <a:lnTo>
                  <a:pt x="0" y="4431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88" y="2105669"/>
            <a:ext cx="114300" cy="114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013" y="3010544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88" y="4782194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013" y="5687069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013" y="7439669"/>
            <a:ext cx="104775" cy="1047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4013" y="8754119"/>
            <a:ext cx="104775" cy="1047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174739" y="2775588"/>
            <a:ext cx="9349105" cy="7083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7825">
              <a:lnSpc>
                <a:spcPct val="114999"/>
              </a:lnSpc>
              <a:spcBef>
                <a:spcPts val="100"/>
              </a:spcBef>
            </a:pPr>
            <a:r>
              <a:rPr dirty="0" sz="2500" spc="50">
                <a:solidFill>
                  <a:srgbClr val="282929"/>
                </a:solidFill>
                <a:latin typeface="Trebuchet MS"/>
                <a:cs typeface="Trebuchet MS"/>
              </a:rPr>
              <a:t>Desarrollar</a:t>
            </a:r>
            <a:r>
              <a:rPr dirty="0" sz="25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5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295">
                <a:solidFill>
                  <a:srgbClr val="282929"/>
                </a:solidFill>
                <a:latin typeface="Trebuchet MS"/>
                <a:cs typeface="Trebuchet MS"/>
              </a:rPr>
              <a:t>MVP</a:t>
            </a:r>
            <a:r>
              <a:rPr dirty="0" sz="25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30">
                <a:solidFill>
                  <a:srgbClr val="282929"/>
                </a:solidFill>
                <a:latin typeface="Trebuchet MS"/>
                <a:cs typeface="Trebuchet MS"/>
              </a:rPr>
              <a:t>web</a:t>
            </a:r>
            <a:r>
              <a:rPr dirty="0" sz="25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predictivo</a:t>
            </a:r>
            <a:r>
              <a:rPr dirty="0" sz="25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90">
                <a:solidFill>
                  <a:srgbClr val="282929"/>
                </a:solidFill>
                <a:latin typeface="Trebuchet MS"/>
                <a:cs typeface="Trebuchet MS"/>
              </a:rPr>
              <a:t>que</a:t>
            </a:r>
            <a:r>
              <a:rPr dirty="0" sz="25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50">
                <a:solidFill>
                  <a:srgbClr val="282929"/>
                </a:solidFill>
                <a:latin typeface="Trebuchet MS"/>
                <a:cs typeface="Trebuchet MS"/>
              </a:rPr>
              <a:t>evalúe</a:t>
            </a:r>
            <a:r>
              <a:rPr dirty="0" sz="25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50">
                <a:solidFill>
                  <a:srgbClr val="282929"/>
                </a:solidFill>
                <a:latin typeface="Trebuchet MS"/>
                <a:cs typeface="Trebuchet MS"/>
              </a:rPr>
              <a:t>variables </a:t>
            </a:r>
            <a:r>
              <a:rPr dirty="0" sz="2500" spc="70">
                <a:solidFill>
                  <a:srgbClr val="282929"/>
                </a:solidFill>
                <a:latin typeface="Trebuchet MS"/>
                <a:cs typeface="Trebuchet MS"/>
              </a:rPr>
              <a:t>operativas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4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5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emita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alertas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0">
                <a:solidFill>
                  <a:srgbClr val="282929"/>
                </a:solidFill>
                <a:latin typeface="Trebuchet MS"/>
                <a:cs typeface="Trebuchet MS"/>
              </a:rPr>
              <a:t>tempranas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fatiga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65">
                <a:solidFill>
                  <a:srgbClr val="282929"/>
                </a:solidFill>
                <a:latin typeface="Trebuchet MS"/>
                <a:cs typeface="Trebuchet MS"/>
              </a:rPr>
              <a:t>para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82929"/>
                </a:solidFill>
                <a:latin typeface="Trebuchet MS"/>
                <a:cs typeface="Trebuchet MS"/>
              </a:rPr>
              <a:t>facilitar </a:t>
            </a:r>
            <a:r>
              <a:rPr dirty="0" sz="2500" spc="95">
                <a:solidFill>
                  <a:srgbClr val="282929"/>
                </a:solidFill>
                <a:latin typeface="Trebuchet MS"/>
                <a:cs typeface="Trebuchet MS"/>
              </a:rPr>
              <a:t>reasignaciones</a:t>
            </a:r>
            <a:r>
              <a:rPr dirty="0" sz="25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40">
                <a:solidFill>
                  <a:srgbClr val="282929"/>
                </a:solidFill>
                <a:latin typeface="Trebuchet MS"/>
                <a:cs typeface="Trebuchet MS"/>
              </a:rPr>
              <a:t>preventivas.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endParaRPr sz="2500">
              <a:latin typeface="Trebuchet MS"/>
              <a:cs typeface="Trebuchet MS"/>
            </a:endParaRPr>
          </a:p>
          <a:p>
            <a:pPr marL="76835">
              <a:lnSpc>
                <a:spcPct val="100000"/>
              </a:lnSpc>
            </a:pPr>
            <a:r>
              <a:rPr dirty="0" sz="2800" spc="-220" b="1">
                <a:solidFill>
                  <a:srgbClr val="282929"/>
                </a:solidFill>
                <a:latin typeface="Verdana"/>
                <a:cs typeface="Verdana"/>
              </a:rPr>
              <a:t>Objetivos</a:t>
            </a:r>
            <a:r>
              <a:rPr dirty="0" sz="2800" spc="-22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70" b="1">
                <a:solidFill>
                  <a:srgbClr val="282929"/>
                </a:solidFill>
                <a:latin typeface="Verdana"/>
                <a:cs typeface="Verdana"/>
              </a:rPr>
              <a:t>Específicos:</a:t>
            </a:r>
            <a:endParaRPr sz="2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2800">
              <a:latin typeface="Verdana"/>
              <a:cs typeface="Verdana"/>
            </a:endParaRPr>
          </a:p>
          <a:p>
            <a:pPr algn="just" marL="12700" marR="94615" indent="-8255">
              <a:lnSpc>
                <a:spcPct val="114999"/>
              </a:lnSpc>
              <a:spcBef>
                <a:spcPts val="5"/>
              </a:spcBef>
              <a:buSzPct val="92000"/>
              <a:buAutoNum type="arabicPeriod"/>
              <a:tabLst>
                <a:tab pos="329565" algn="l"/>
              </a:tabLst>
            </a:pPr>
            <a:r>
              <a:rPr dirty="0" sz="2500" spc="-195" b="1">
                <a:solidFill>
                  <a:srgbClr val="282929"/>
                </a:solidFill>
                <a:latin typeface="Verdana"/>
                <a:cs typeface="Verdana"/>
              </a:rPr>
              <a:t>	</a:t>
            </a:r>
            <a:r>
              <a:rPr dirty="0" sz="2500" spc="-195" b="1">
                <a:solidFill>
                  <a:srgbClr val="282929"/>
                </a:solidFill>
                <a:latin typeface="Verdana"/>
                <a:cs typeface="Verdana"/>
              </a:rPr>
              <a:t>Datos</a:t>
            </a:r>
            <a:r>
              <a:rPr dirty="0" sz="2500" spc="-2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 spc="-165" b="1">
                <a:solidFill>
                  <a:srgbClr val="282929"/>
                </a:solidFill>
                <a:latin typeface="Verdana"/>
                <a:cs typeface="Verdana"/>
              </a:rPr>
              <a:t>y</a:t>
            </a:r>
            <a:r>
              <a:rPr dirty="0" sz="2500" spc="-2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 spc="-185" b="1">
                <a:solidFill>
                  <a:srgbClr val="282929"/>
                </a:solidFill>
                <a:latin typeface="Verdana"/>
                <a:cs typeface="Verdana"/>
              </a:rPr>
              <a:t>Privacidad:</a:t>
            </a:r>
            <a:r>
              <a:rPr dirty="0" sz="2500" spc="-2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 spc="70">
                <a:solidFill>
                  <a:srgbClr val="282929"/>
                </a:solidFill>
                <a:latin typeface="Trebuchet MS"/>
                <a:cs typeface="Trebuchet MS"/>
              </a:rPr>
              <a:t>Construir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55">
                <a:solidFill>
                  <a:srgbClr val="282929"/>
                </a:solidFill>
                <a:latin typeface="Trebuchet MS"/>
                <a:cs typeface="Trebuchet MS"/>
              </a:rPr>
              <a:t>script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90">
                <a:solidFill>
                  <a:srgbClr val="282929"/>
                </a:solidFill>
                <a:latin typeface="Trebuchet MS"/>
                <a:cs typeface="Trebuchet MS"/>
              </a:rPr>
              <a:t>generador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4">
                <a:solidFill>
                  <a:srgbClr val="282929"/>
                </a:solidFill>
                <a:latin typeface="Trebuchet MS"/>
                <a:cs typeface="Trebuchet MS"/>
              </a:rPr>
              <a:t>datos</a:t>
            </a:r>
            <a:r>
              <a:rPr dirty="0" sz="2500" spc="2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60">
                <a:solidFill>
                  <a:srgbClr val="282929"/>
                </a:solidFill>
                <a:latin typeface="Trebuchet MS"/>
                <a:cs typeface="Trebuchet MS"/>
              </a:rPr>
              <a:t>sintéticos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sin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60">
                <a:solidFill>
                  <a:srgbClr val="282929"/>
                </a:solidFill>
                <a:latin typeface="Trebuchet MS"/>
                <a:cs typeface="Trebuchet MS"/>
              </a:rPr>
              <a:t>sesgos,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75">
                <a:solidFill>
                  <a:srgbClr val="282929"/>
                </a:solidFill>
                <a:latin typeface="Trebuchet MS"/>
                <a:cs typeface="Trebuchet MS"/>
              </a:rPr>
              <a:t>garantizando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-40">
                <a:solidFill>
                  <a:srgbClr val="282929"/>
                </a:solidFill>
                <a:latin typeface="Trebuchet MS"/>
                <a:cs typeface="Trebuchet MS"/>
              </a:rPr>
              <a:t>el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cumplimiento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-3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4">
                <a:solidFill>
                  <a:srgbClr val="282929"/>
                </a:solidFill>
                <a:latin typeface="Trebuchet MS"/>
                <a:cs typeface="Trebuchet MS"/>
              </a:rPr>
              <a:t>Ley</a:t>
            </a:r>
            <a:r>
              <a:rPr dirty="0" sz="2500" spc="9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25">
                <a:solidFill>
                  <a:srgbClr val="282929"/>
                </a:solidFill>
                <a:latin typeface="Trebuchet MS"/>
                <a:cs typeface="Trebuchet MS"/>
              </a:rPr>
              <a:t>19.628.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Clr>
                <a:srgbClr val="282929"/>
              </a:buClr>
              <a:buFont typeface="Verdana"/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algn="just" marL="12700" marR="212090" indent="366395">
              <a:lnSpc>
                <a:spcPct val="114999"/>
              </a:lnSpc>
              <a:buSzPct val="92000"/>
              <a:buAutoNum type="arabicPeriod"/>
              <a:tabLst>
                <a:tab pos="379095" algn="l"/>
              </a:tabLst>
            </a:pPr>
            <a:r>
              <a:rPr dirty="0" sz="2500" spc="-225" b="1">
                <a:solidFill>
                  <a:srgbClr val="282929"/>
                </a:solidFill>
                <a:latin typeface="Verdana"/>
                <a:cs typeface="Verdana"/>
              </a:rPr>
              <a:t>Motor</a:t>
            </a:r>
            <a:r>
              <a:rPr dirty="0" sz="2500" spc="1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 spc="-200" b="1">
                <a:solidFill>
                  <a:srgbClr val="282929"/>
                </a:solidFill>
                <a:latin typeface="Verdana"/>
                <a:cs typeface="Verdana"/>
              </a:rPr>
              <a:t>Analítico:</a:t>
            </a:r>
            <a:r>
              <a:rPr dirty="0" sz="2500" spc="-1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 spc="50">
                <a:solidFill>
                  <a:srgbClr val="282929"/>
                </a:solidFill>
                <a:latin typeface="Trebuchet MS"/>
                <a:cs typeface="Trebuchet MS"/>
              </a:rPr>
              <a:t>Desarrollar</a:t>
            </a:r>
            <a:r>
              <a:rPr dirty="0" sz="2500" spc="-19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500" spc="-10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70">
                <a:solidFill>
                  <a:srgbClr val="282929"/>
                </a:solidFill>
                <a:latin typeface="Trebuchet MS"/>
                <a:cs typeface="Trebuchet MS"/>
              </a:rPr>
              <a:t>modelo</a:t>
            </a:r>
            <a:r>
              <a:rPr dirty="0" sz="2500" spc="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45">
                <a:solidFill>
                  <a:srgbClr val="282929"/>
                </a:solidFill>
                <a:latin typeface="Trebuchet MS"/>
                <a:cs typeface="Trebuchet MS"/>
              </a:rPr>
              <a:t> clasificación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de </a:t>
            </a:r>
            <a:r>
              <a:rPr dirty="0" sz="2500" spc="100">
                <a:solidFill>
                  <a:srgbClr val="282929"/>
                </a:solidFill>
                <a:latin typeface="Trebuchet MS"/>
                <a:cs typeface="Trebuchet MS"/>
              </a:rPr>
              <a:t>riesgo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25">
                <a:solidFill>
                  <a:srgbClr val="282929"/>
                </a:solidFill>
                <a:latin typeface="Trebuchet MS"/>
                <a:cs typeface="Trebuchet MS"/>
              </a:rPr>
              <a:t>con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al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35">
                <a:solidFill>
                  <a:srgbClr val="282929"/>
                </a:solidFill>
                <a:latin typeface="Trebuchet MS"/>
                <a:cs typeface="Trebuchet MS"/>
              </a:rPr>
              <a:t>menos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325">
                <a:solidFill>
                  <a:srgbClr val="282929"/>
                </a:solidFill>
                <a:latin typeface="Trebuchet MS"/>
                <a:cs typeface="Trebuchet MS"/>
              </a:rPr>
              <a:t>80%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-10">
                <a:solidFill>
                  <a:srgbClr val="282929"/>
                </a:solidFill>
                <a:latin typeface="Trebuchet MS"/>
                <a:cs typeface="Trebuchet MS"/>
              </a:rPr>
              <a:t>precisión.</a:t>
            </a:r>
            <a:endParaRPr sz="2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Clr>
                <a:srgbClr val="282929"/>
              </a:buClr>
              <a:buFont typeface="Verdana"/>
              <a:buAutoNum type="arabicPeriod"/>
            </a:pPr>
            <a:endParaRPr sz="2500">
              <a:latin typeface="Trebuchet MS"/>
              <a:cs typeface="Trebuchet MS"/>
            </a:endParaRPr>
          </a:p>
          <a:p>
            <a:pPr marL="12700" marR="5080" indent="375920">
              <a:lnSpc>
                <a:spcPct val="114999"/>
              </a:lnSpc>
              <a:buSzPct val="92000"/>
              <a:buAutoNum type="arabicPeriod"/>
              <a:tabLst>
                <a:tab pos="388620" algn="l"/>
              </a:tabLst>
            </a:pPr>
            <a:r>
              <a:rPr dirty="0" sz="2500" spc="-180" b="1">
                <a:solidFill>
                  <a:srgbClr val="282929"/>
                </a:solidFill>
                <a:latin typeface="Verdana"/>
                <a:cs typeface="Verdana"/>
              </a:rPr>
              <a:t>Transaccionalidad:</a:t>
            </a:r>
            <a:r>
              <a:rPr dirty="0" sz="2500" spc="-19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Implementar</a:t>
            </a:r>
            <a:r>
              <a:rPr dirty="0" sz="2500" spc="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500" spc="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25">
                <a:solidFill>
                  <a:srgbClr val="282929"/>
                </a:solidFill>
                <a:latin typeface="Trebuchet MS"/>
                <a:cs typeface="Trebuchet MS"/>
              </a:rPr>
              <a:t>dashboard</a:t>
            </a:r>
            <a:r>
              <a:rPr dirty="0" sz="2500" spc="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30">
                <a:solidFill>
                  <a:srgbClr val="282929"/>
                </a:solidFill>
                <a:latin typeface="Trebuchet MS"/>
                <a:cs typeface="Trebuchet MS"/>
              </a:rPr>
              <a:t>web</a:t>
            </a:r>
            <a:r>
              <a:rPr dirty="0" sz="2500" spc="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65">
                <a:solidFill>
                  <a:srgbClr val="282929"/>
                </a:solidFill>
                <a:latin typeface="Trebuchet MS"/>
                <a:cs typeface="Trebuchet MS"/>
              </a:rPr>
              <a:t>que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permita</a:t>
            </a:r>
            <a:r>
              <a:rPr dirty="0" sz="250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ejecutar</a:t>
            </a:r>
            <a:r>
              <a:rPr dirty="0" sz="25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95">
                <a:solidFill>
                  <a:srgbClr val="282929"/>
                </a:solidFill>
                <a:latin typeface="Trebuchet MS"/>
                <a:cs typeface="Trebuchet MS"/>
              </a:rPr>
              <a:t>reasignaciones</a:t>
            </a:r>
            <a:r>
              <a:rPr dirty="0" sz="25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60">
                <a:solidFill>
                  <a:srgbClr val="282929"/>
                </a:solidFill>
                <a:latin typeface="Trebuchet MS"/>
                <a:cs typeface="Trebuchet MS"/>
              </a:rPr>
              <a:t>modificando</a:t>
            </a:r>
            <a:r>
              <a:rPr dirty="0" sz="250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5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50">
                <a:solidFill>
                  <a:srgbClr val="282929"/>
                </a:solidFill>
                <a:latin typeface="Trebuchet MS"/>
                <a:cs typeface="Trebuchet MS"/>
              </a:rPr>
              <a:t>base</a:t>
            </a:r>
            <a:r>
              <a:rPr dirty="0" sz="25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1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50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105">
                <a:solidFill>
                  <a:srgbClr val="282929"/>
                </a:solidFill>
                <a:latin typeface="Trebuchet MS"/>
                <a:cs typeface="Trebuchet MS"/>
              </a:rPr>
              <a:t>datos </a:t>
            </a:r>
            <a:r>
              <a:rPr dirty="0" sz="2500" spc="8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500" spc="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>
                <a:solidFill>
                  <a:srgbClr val="282929"/>
                </a:solidFill>
                <a:latin typeface="Trebuchet MS"/>
                <a:cs typeface="Trebuchet MS"/>
              </a:rPr>
              <a:t>tiempo</a:t>
            </a:r>
            <a:r>
              <a:rPr dirty="0" sz="2500" spc="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500" spc="-20">
                <a:solidFill>
                  <a:srgbClr val="282929"/>
                </a:solidFill>
                <a:latin typeface="Trebuchet MS"/>
                <a:cs typeface="Trebuchet MS"/>
              </a:rPr>
              <a:t>real.</a:t>
            </a:r>
            <a:endParaRPr sz="25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93450" y="3009398"/>
            <a:ext cx="5781674" cy="5781674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35088" y="127031"/>
            <a:ext cx="6123305" cy="223393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6830"/>
              </a:lnSpc>
              <a:spcBef>
                <a:spcPts val="135"/>
              </a:spcBef>
            </a:pPr>
            <a:r>
              <a:rPr dirty="0" spc="660"/>
              <a:t>OBJETIVOS</a:t>
            </a:r>
            <a:r>
              <a:rPr dirty="0" spc="-229"/>
              <a:t> </a:t>
            </a:r>
            <a:r>
              <a:rPr dirty="0" spc="900"/>
              <a:t>DEL </a:t>
            </a:r>
            <a:r>
              <a:rPr dirty="0" spc="800"/>
              <a:t>PROYECTO</a:t>
            </a:r>
          </a:p>
          <a:p>
            <a:pPr marL="616585">
              <a:lnSpc>
                <a:spcPct val="100000"/>
              </a:lnSpc>
              <a:spcBef>
                <a:spcPts val="334"/>
              </a:spcBef>
            </a:pPr>
            <a:r>
              <a:rPr dirty="0" sz="2800" spc="-229">
                <a:latin typeface="Verdana"/>
                <a:cs typeface="Verdana"/>
              </a:rPr>
              <a:t>Objetivo</a:t>
            </a:r>
            <a:r>
              <a:rPr dirty="0" sz="2800" spc="-260">
                <a:latin typeface="Verdana"/>
                <a:cs typeface="Verdana"/>
              </a:rPr>
              <a:t> </a:t>
            </a:r>
            <a:r>
              <a:rPr dirty="0" sz="2800" spc="-100">
                <a:latin typeface="Verdana"/>
                <a:cs typeface="Verdana"/>
              </a:rPr>
              <a:t>General: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987" y="0"/>
            <a:ext cx="401955" cy="10287000"/>
            <a:chOff x="714987" y="0"/>
            <a:chExt cx="401955" cy="10287000"/>
          </a:xfrm>
        </p:grpSpPr>
        <p:sp>
          <p:nvSpPr>
            <p:cNvPr id="3" name="object 3"/>
            <p:cNvSpPr/>
            <p:nvPr/>
          </p:nvSpPr>
          <p:spPr>
            <a:xfrm>
              <a:off x="901658" y="0"/>
              <a:ext cx="28575" cy="10287000"/>
            </a:xfrm>
            <a:custGeom>
              <a:avLst/>
              <a:gdLst/>
              <a:ahLst/>
              <a:cxnLst/>
              <a:rect l="l" t="t" r="r" b="b"/>
              <a:pathLst>
                <a:path w="28575" h="10287000">
                  <a:moveTo>
                    <a:pt x="0" y="0"/>
                  </a:moveTo>
                  <a:lnTo>
                    <a:pt x="28574" y="0"/>
                  </a:lnTo>
                  <a:lnTo>
                    <a:pt x="28574" y="10286999"/>
                  </a:lnTo>
                  <a:lnTo>
                    <a:pt x="0" y="102869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29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14984" y="1888387"/>
              <a:ext cx="401955" cy="5914390"/>
            </a:xfrm>
            <a:custGeom>
              <a:avLst/>
              <a:gdLst/>
              <a:ahLst/>
              <a:cxnLst/>
              <a:rect l="l" t="t" r="r" b="b"/>
              <a:pathLst>
                <a:path w="401955" h="5914390">
                  <a:moveTo>
                    <a:pt x="145948" y="5571325"/>
                  </a:moveTo>
                  <a:lnTo>
                    <a:pt x="58851" y="5571325"/>
                  </a:lnTo>
                  <a:lnTo>
                    <a:pt x="143281" y="5574169"/>
                  </a:lnTo>
                  <a:lnTo>
                    <a:pt x="145948" y="5571325"/>
                  </a:lnTo>
                  <a:close/>
                </a:path>
                <a:path w="401955" h="5914390">
                  <a:moveTo>
                    <a:pt x="145948" y="2972549"/>
                  </a:moveTo>
                  <a:lnTo>
                    <a:pt x="58851" y="2972549"/>
                  </a:lnTo>
                  <a:lnTo>
                    <a:pt x="143281" y="2975394"/>
                  </a:lnTo>
                  <a:lnTo>
                    <a:pt x="145948" y="2972549"/>
                  </a:lnTo>
                  <a:close/>
                </a:path>
                <a:path w="401955" h="5914390">
                  <a:moveTo>
                    <a:pt x="145948" y="58864"/>
                  </a:moveTo>
                  <a:lnTo>
                    <a:pt x="58851" y="58864"/>
                  </a:lnTo>
                  <a:lnTo>
                    <a:pt x="143281" y="61709"/>
                  </a:lnTo>
                  <a:lnTo>
                    <a:pt x="145948" y="58864"/>
                  </a:lnTo>
                  <a:close/>
                </a:path>
                <a:path w="401955" h="5914390">
                  <a:moveTo>
                    <a:pt x="255955" y="5855525"/>
                  </a:moveTo>
                  <a:lnTo>
                    <a:pt x="145948" y="5855525"/>
                  </a:lnTo>
                  <a:lnTo>
                    <a:pt x="200964" y="5914390"/>
                  </a:lnTo>
                  <a:lnTo>
                    <a:pt x="255955" y="5855525"/>
                  </a:lnTo>
                  <a:close/>
                </a:path>
                <a:path w="401955" h="5914390">
                  <a:moveTo>
                    <a:pt x="255955" y="3256750"/>
                  </a:moveTo>
                  <a:lnTo>
                    <a:pt x="145948" y="3256750"/>
                  </a:lnTo>
                  <a:lnTo>
                    <a:pt x="200964" y="3315614"/>
                  </a:lnTo>
                  <a:lnTo>
                    <a:pt x="255955" y="3256750"/>
                  </a:lnTo>
                  <a:close/>
                </a:path>
                <a:path w="401955" h="5914390">
                  <a:moveTo>
                    <a:pt x="255955" y="343065"/>
                  </a:moveTo>
                  <a:lnTo>
                    <a:pt x="145948" y="343065"/>
                  </a:lnTo>
                  <a:lnTo>
                    <a:pt x="200964" y="401929"/>
                  </a:lnTo>
                  <a:lnTo>
                    <a:pt x="255955" y="343065"/>
                  </a:lnTo>
                  <a:close/>
                </a:path>
                <a:path w="401955" h="5914390">
                  <a:moveTo>
                    <a:pt x="255968" y="5571325"/>
                  </a:moveTo>
                  <a:lnTo>
                    <a:pt x="200964" y="5512460"/>
                  </a:lnTo>
                  <a:lnTo>
                    <a:pt x="145948" y="5571325"/>
                  </a:lnTo>
                  <a:lnTo>
                    <a:pt x="255968" y="5571325"/>
                  </a:lnTo>
                  <a:close/>
                </a:path>
                <a:path w="401955" h="5914390">
                  <a:moveTo>
                    <a:pt x="255968" y="2972549"/>
                  </a:moveTo>
                  <a:lnTo>
                    <a:pt x="200964" y="2913684"/>
                  </a:lnTo>
                  <a:lnTo>
                    <a:pt x="145948" y="2972549"/>
                  </a:lnTo>
                  <a:lnTo>
                    <a:pt x="255968" y="2972549"/>
                  </a:lnTo>
                  <a:close/>
                </a:path>
                <a:path w="401955" h="5914390">
                  <a:moveTo>
                    <a:pt x="255968" y="58864"/>
                  </a:moveTo>
                  <a:lnTo>
                    <a:pt x="200964" y="0"/>
                  </a:lnTo>
                  <a:lnTo>
                    <a:pt x="145948" y="58864"/>
                  </a:lnTo>
                  <a:lnTo>
                    <a:pt x="255968" y="58864"/>
                  </a:lnTo>
                  <a:close/>
                </a:path>
                <a:path w="401955" h="5914390">
                  <a:moveTo>
                    <a:pt x="343065" y="5571325"/>
                  </a:moveTo>
                  <a:lnTo>
                    <a:pt x="255968" y="5571325"/>
                  </a:lnTo>
                  <a:lnTo>
                    <a:pt x="258635" y="5574169"/>
                  </a:lnTo>
                  <a:lnTo>
                    <a:pt x="343065" y="5571325"/>
                  </a:lnTo>
                  <a:close/>
                </a:path>
                <a:path w="401955" h="5914390">
                  <a:moveTo>
                    <a:pt x="343065" y="2972549"/>
                  </a:moveTo>
                  <a:lnTo>
                    <a:pt x="255968" y="2972549"/>
                  </a:lnTo>
                  <a:lnTo>
                    <a:pt x="258635" y="2975394"/>
                  </a:lnTo>
                  <a:lnTo>
                    <a:pt x="343065" y="2972549"/>
                  </a:lnTo>
                  <a:close/>
                </a:path>
                <a:path w="401955" h="5914390">
                  <a:moveTo>
                    <a:pt x="343065" y="58864"/>
                  </a:moveTo>
                  <a:lnTo>
                    <a:pt x="255968" y="58864"/>
                  </a:lnTo>
                  <a:lnTo>
                    <a:pt x="258635" y="61709"/>
                  </a:lnTo>
                  <a:lnTo>
                    <a:pt x="343065" y="58864"/>
                  </a:lnTo>
                  <a:close/>
                </a:path>
                <a:path w="401955" h="5914390">
                  <a:moveTo>
                    <a:pt x="401916" y="5713425"/>
                  </a:moveTo>
                  <a:lnTo>
                    <a:pt x="340207" y="5655742"/>
                  </a:lnTo>
                  <a:lnTo>
                    <a:pt x="342963" y="5574169"/>
                  </a:lnTo>
                  <a:lnTo>
                    <a:pt x="258635" y="5574169"/>
                  </a:lnTo>
                  <a:lnTo>
                    <a:pt x="143281" y="5574169"/>
                  </a:lnTo>
                  <a:lnTo>
                    <a:pt x="58953" y="5574169"/>
                  </a:lnTo>
                  <a:lnTo>
                    <a:pt x="61709" y="5655742"/>
                  </a:lnTo>
                  <a:lnTo>
                    <a:pt x="0" y="5713425"/>
                  </a:lnTo>
                  <a:lnTo>
                    <a:pt x="61709" y="5771096"/>
                  </a:lnTo>
                  <a:lnTo>
                    <a:pt x="58953" y="5852668"/>
                  </a:lnTo>
                  <a:lnTo>
                    <a:pt x="143281" y="5852668"/>
                  </a:lnTo>
                  <a:lnTo>
                    <a:pt x="258635" y="5852668"/>
                  </a:lnTo>
                  <a:lnTo>
                    <a:pt x="342963" y="5852668"/>
                  </a:lnTo>
                  <a:lnTo>
                    <a:pt x="340207" y="5771096"/>
                  </a:lnTo>
                  <a:lnTo>
                    <a:pt x="401916" y="5713425"/>
                  </a:lnTo>
                  <a:close/>
                </a:path>
                <a:path w="401955" h="5914390">
                  <a:moveTo>
                    <a:pt x="401916" y="3114649"/>
                  </a:moveTo>
                  <a:lnTo>
                    <a:pt x="340207" y="3056966"/>
                  </a:lnTo>
                  <a:lnTo>
                    <a:pt x="342963" y="2975394"/>
                  </a:lnTo>
                  <a:lnTo>
                    <a:pt x="258635" y="2975394"/>
                  </a:lnTo>
                  <a:lnTo>
                    <a:pt x="143281" y="2975394"/>
                  </a:lnTo>
                  <a:lnTo>
                    <a:pt x="58953" y="2975394"/>
                  </a:lnTo>
                  <a:lnTo>
                    <a:pt x="61709" y="3056966"/>
                  </a:lnTo>
                  <a:lnTo>
                    <a:pt x="0" y="3114649"/>
                  </a:lnTo>
                  <a:lnTo>
                    <a:pt x="61709" y="3172320"/>
                  </a:lnTo>
                  <a:lnTo>
                    <a:pt x="58953" y="3253892"/>
                  </a:lnTo>
                  <a:lnTo>
                    <a:pt x="143281" y="3253892"/>
                  </a:lnTo>
                  <a:lnTo>
                    <a:pt x="258635" y="3253892"/>
                  </a:lnTo>
                  <a:lnTo>
                    <a:pt x="342963" y="3253892"/>
                  </a:lnTo>
                  <a:lnTo>
                    <a:pt x="340207" y="3172320"/>
                  </a:lnTo>
                  <a:lnTo>
                    <a:pt x="401916" y="3114649"/>
                  </a:lnTo>
                  <a:close/>
                </a:path>
                <a:path w="401955" h="5914390">
                  <a:moveTo>
                    <a:pt x="401916" y="200964"/>
                  </a:moveTo>
                  <a:lnTo>
                    <a:pt x="340207" y="143281"/>
                  </a:lnTo>
                  <a:lnTo>
                    <a:pt x="342963" y="61709"/>
                  </a:lnTo>
                  <a:lnTo>
                    <a:pt x="258635" y="61709"/>
                  </a:lnTo>
                  <a:lnTo>
                    <a:pt x="143281" y="61709"/>
                  </a:lnTo>
                  <a:lnTo>
                    <a:pt x="58953" y="61709"/>
                  </a:lnTo>
                  <a:lnTo>
                    <a:pt x="61709" y="143281"/>
                  </a:lnTo>
                  <a:lnTo>
                    <a:pt x="0" y="200964"/>
                  </a:lnTo>
                  <a:lnTo>
                    <a:pt x="61709" y="258648"/>
                  </a:lnTo>
                  <a:lnTo>
                    <a:pt x="58953" y="340207"/>
                  </a:lnTo>
                  <a:lnTo>
                    <a:pt x="143281" y="340207"/>
                  </a:lnTo>
                  <a:lnTo>
                    <a:pt x="258635" y="340207"/>
                  </a:lnTo>
                  <a:lnTo>
                    <a:pt x="342963" y="340207"/>
                  </a:lnTo>
                  <a:lnTo>
                    <a:pt x="340207" y="258648"/>
                  </a:lnTo>
                  <a:lnTo>
                    <a:pt x="401916" y="200964"/>
                  </a:lnTo>
                  <a:close/>
                </a:path>
              </a:pathLst>
            </a:custGeom>
            <a:solidFill>
              <a:srgbClr val="28292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1295082" y="1575599"/>
            <a:ext cx="1235710" cy="1235710"/>
          </a:xfrm>
          <a:custGeom>
            <a:avLst/>
            <a:gdLst/>
            <a:ahLst/>
            <a:cxnLst/>
            <a:rect l="l" t="t" r="r" b="b"/>
            <a:pathLst>
              <a:path w="1235710" h="1235710">
                <a:moveTo>
                  <a:pt x="617649" y="1235298"/>
                </a:moveTo>
                <a:lnTo>
                  <a:pt x="569380" y="1233440"/>
                </a:lnTo>
                <a:lnTo>
                  <a:pt x="522127" y="1227956"/>
                </a:lnTo>
                <a:lnTo>
                  <a:pt x="476027" y="1218985"/>
                </a:lnTo>
                <a:lnTo>
                  <a:pt x="431219" y="1206664"/>
                </a:lnTo>
                <a:lnTo>
                  <a:pt x="387838" y="1191130"/>
                </a:lnTo>
                <a:lnTo>
                  <a:pt x="346022" y="1172519"/>
                </a:lnTo>
                <a:lnTo>
                  <a:pt x="305909" y="1150971"/>
                </a:lnTo>
                <a:lnTo>
                  <a:pt x="267636" y="1126621"/>
                </a:lnTo>
                <a:lnTo>
                  <a:pt x="231341" y="1099607"/>
                </a:lnTo>
                <a:lnTo>
                  <a:pt x="197159" y="1070067"/>
                </a:lnTo>
                <a:lnTo>
                  <a:pt x="165230" y="1038138"/>
                </a:lnTo>
                <a:lnTo>
                  <a:pt x="135690" y="1003957"/>
                </a:lnTo>
                <a:lnTo>
                  <a:pt x="108677" y="967661"/>
                </a:lnTo>
                <a:lnTo>
                  <a:pt x="84327" y="929388"/>
                </a:lnTo>
                <a:lnTo>
                  <a:pt x="62778" y="889275"/>
                </a:lnTo>
                <a:lnTo>
                  <a:pt x="44168" y="847460"/>
                </a:lnTo>
                <a:lnTo>
                  <a:pt x="28633" y="804079"/>
                </a:lnTo>
                <a:lnTo>
                  <a:pt x="16312" y="759270"/>
                </a:lnTo>
                <a:lnTo>
                  <a:pt x="7341" y="713171"/>
                </a:lnTo>
                <a:lnTo>
                  <a:pt x="1858" y="665918"/>
                </a:lnTo>
                <a:lnTo>
                  <a:pt x="0" y="617649"/>
                </a:lnTo>
                <a:lnTo>
                  <a:pt x="1858" y="569380"/>
                </a:lnTo>
                <a:lnTo>
                  <a:pt x="7341" y="522127"/>
                </a:lnTo>
                <a:lnTo>
                  <a:pt x="16312" y="476028"/>
                </a:lnTo>
                <a:lnTo>
                  <a:pt x="28633" y="431219"/>
                </a:lnTo>
                <a:lnTo>
                  <a:pt x="44168" y="387838"/>
                </a:lnTo>
                <a:lnTo>
                  <a:pt x="62778" y="346022"/>
                </a:lnTo>
                <a:lnTo>
                  <a:pt x="84327" y="305909"/>
                </a:lnTo>
                <a:lnTo>
                  <a:pt x="108677" y="267636"/>
                </a:lnTo>
                <a:lnTo>
                  <a:pt x="135690" y="231341"/>
                </a:lnTo>
                <a:lnTo>
                  <a:pt x="165230" y="197160"/>
                </a:lnTo>
                <a:lnTo>
                  <a:pt x="197159" y="165230"/>
                </a:lnTo>
                <a:lnTo>
                  <a:pt x="231341" y="135690"/>
                </a:lnTo>
                <a:lnTo>
                  <a:pt x="267636" y="108677"/>
                </a:lnTo>
                <a:lnTo>
                  <a:pt x="305909" y="84327"/>
                </a:lnTo>
                <a:lnTo>
                  <a:pt x="346022" y="62778"/>
                </a:lnTo>
                <a:lnTo>
                  <a:pt x="387838" y="44168"/>
                </a:lnTo>
                <a:lnTo>
                  <a:pt x="431219" y="28633"/>
                </a:lnTo>
                <a:lnTo>
                  <a:pt x="476027" y="16312"/>
                </a:lnTo>
                <a:lnTo>
                  <a:pt x="522127" y="7341"/>
                </a:lnTo>
                <a:lnTo>
                  <a:pt x="569380" y="1858"/>
                </a:lnTo>
                <a:lnTo>
                  <a:pt x="617649" y="0"/>
                </a:lnTo>
                <a:lnTo>
                  <a:pt x="665918" y="1858"/>
                </a:lnTo>
                <a:lnTo>
                  <a:pt x="713170" y="7341"/>
                </a:lnTo>
                <a:lnTo>
                  <a:pt x="759270" y="16312"/>
                </a:lnTo>
                <a:lnTo>
                  <a:pt x="804079" y="28633"/>
                </a:lnTo>
                <a:lnTo>
                  <a:pt x="847460" y="44168"/>
                </a:lnTo>
                <a:lnTo>
                  <a:pt x="889275" y="62778"/>
                </a:lnTo>
                <a:lnTo>
                  <a:pt x="929388" y="84327"/>
                </a:lnTo>
                <a:lnTo>
                  <a:pt x="967661" y="108677"/>
                </a:lnTo>
                <a:lnTo>
                  <a:pt x="1003957" y="135690"/>
                </a:lnTo>
                <a:lnTo>
                  <a:pt x="1038138" y="165230"/>
                </a:lnTo>
                <a:lnTo>
                  <a:pt x="1070067" y="197160"/>
                </a:lnTo>
                <a:lnTo>
                  <a:pt x="1099607" y="231341"/>
                </a:lnTo>
                <a:lnTo>
                  <a:pt x="1126621" y="267636"/>
                </a:lnTo>
                <a:lnTo>
                  <a:pt x="1150971" y="305909"/>
                </a:lnTo>
                <a:lnTo>
                  <a:pt x="1172519" y="346022"/>
                </a:lnTo>
                <a:lnTo>
                  <a:pt x="1191130" y="387838"/>
                </a:lnTo>
                <a:lnTo>
                  <a:pt x="1206664" y="431219"/>
                </a:lnTo>
                <a:lnTo>
                  <a:pt x="1218985" y="476028"/>
                </a:lnTo>
                <a:lnTo>
                  <a:pt x="1227956" y="522127"/>
                </a:lnTo>
                <a:lnTo>
                  <a:pt x="1233440" y="569380"/>
                </a:lnTo>
                <a:lnTo>
                  <a:pt x="1235298" y="617649"/>
                </a:lnTo>
                <a:lnTo>
                  <a:pt x="1233440" y="665918"/>
                </a:lnTo>
                <a:lnTo>
                  <a:pt x="1227956" y="713171"/>
                </a:lnTo>
                <a:lnTo>
                  <a:pt x="1218985" y="759270"/>
                </a:lnTo>
                <a:lnTo>
                  <a:pt x="1206664" y="804079"/>
                </a:lnTo>
                <a:lnTo>
                  <a:pt x="1191130" y="847460"/>
                </a:lnTo>
                <a:lnTo>
                  <a:pt x="1172519" y="889275"/>
                </a:lnTo>
                <a:lnTo>
                  <a:pt x="1150971" y="929388"/>
                </a:lnTo>
                <a:lnTo>
                  <a:pt x="1126621" y="967661"/>
                </a:lnTo>
                <a:lnTo>
                  <a:pt x="1099607" y="1003957"/>
                </a:lnTo>
                <a:lnTo>
                  <a:pt x="1070067" y="1038138"/>
                </a:lnTo>
                <a:lnTo>
                  <a:pt x="1038138" y="1070067"/>
                </a:lnTo>
                <a:lnTo>
                  <a:pt x="1003957" y="1099607"/>
                </a:lnTo>
                <a:lnTo>
                  <a:pt x="967661" y="1126621"/>
                </a:lnTo>
                <a:lnTo>
                  <a:pt x="929388" y="1150971"/>
                </a:lnTo>
                <a:lnTo>
                  <a:pt x="889275" y="1172519"/>
                </a:lnTo>
                <a:lnTo>
                  <a:pt x="847460" y="1191130"/>
                </a:lnTo>
                <a:lnTo>
                  <a:pt x="804079" y="1206664"/>
                </a:lnTo>
                <a:lnTo>
                  <a:pt x="759270" y="1218985"/>
                </a:lnTo>
                <a:lnTo>
                  <a:pt x="713170" y="1227956"/>
                </a:lnTo>
                <a:lnTo>
                  <a:pt x="665918" y="1233440"/>
                </a:lnTo>
                <a:lnTo>
                  <a:pt x="617649" y="1235298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295082" y="4385378"/>
            <a:ext cx="1235710" cy="1235710"/>
          </a:xfrm>
          <a:custGeom>
            <a:avLst/>
            <a:gdLst/>
            <a:ahLst/>
            <a:cxnLst/>
            <a:rect l="l" t="t" r="r" b="b"/>
            <a:pathLst>
              <a:path w="1235710" h="1235710">
                <a:moveTo>
                  <a:pt x="617649" y="1235298"/>
                </a:moveTo>
                <a:lnTo>
                  <a:pt x="569380" y="1233440"/>
                </a:lnTo>
                <a:lnTo>
                  <a:pt x="522127" y="1227956"/>
                </a:lnTo>
                <a:lnTo>
                  <a:pt x="476027" y="1218985"/>
                </a:lnTo>
                <a:lnTo>
                  <a:pt x="431219" y="1206664"/>
                </a:lnTo>
                <a:lnTo>
                  <a:pt x="387838" y="1191130"/>
                </a:lnTo>
                <a:lnTo>
                  <a:pt x="346022" y="1172519"/>
                </a:lnTo>
                <a:lnTo>
                  <a:pt x="305909" y="1150971"/>
                </a:lnTo>
                <a:lnTo>
                  <a:pt x="267636" y="1126621"/>
                </a:lnTo>
                <a:lnTo>
                  <a:pt x="231341" y="1099607"/>
                </a:lnTo>
                <a:lnTo>
                  <a:pt x="197159" y="1070067"/>
                </a:lnTo>
                <a:lnTo>
                  <a:pt x="165230" y="1038138"/>
                </a:lnTo>
                <a:lnTo>
                  <a:pt x="135690" y="1003957"/>
                </a:lnTo>
                <a:lnTo>
                  <a:pt x="108677" y="967661"/>
                </a:lnTo>
                <a:lnTo>
                  <a:pt x="84327" y="929388"/>
                </a:lnTo>
                <a:lnTo>
                  <a:pt x="62778" y="889275"/>
                </a:lnTo>
                <a:lnTo>
                  <a:pt x="44168" y="847460"/>
                </a:lnTo>
                <a:lnTo>
                  <a:pt x="28633" y="804079"/>
                </a:lnTo>
                <a:lnTo>
                  <a:pt x="16312" y="759270"/>
                </a:lnTo>
                <a:lnTo>
                  <a:pt x="7341" y="713171"/>
                </a:lnTo>
                <a:lnTo>
                  <a:pt x="1858" y="665918"/>
                </a:lnTo>
                <a:lnTo>
                  <a:pt x="0" y="617649"/>
                </a:lnTo>
                <a:lnTo>
                  <a:pt x="1858" y="569380"/>
                </a:lnTo>
                <a:lnTo>
                  <a:pt x="7341" y="522127"/>
                </a:lnTo>
                <a:lnTo>
                  <a:pt x="16312" y="476027"/>
                </a:lnTo>
                <a:lnTo>
                  <a:pt x="28633" y="431219"/>
                </a:lnTo>
                <a:lnTo>
                  <a:pt x="44168" y="387838"/>
                </a:lnTo>
                <a:lnTo>
                  <a:pt x="62778" y="346022"/>
                </a:lnTo>
                <a:lnTo>
                  <a:pt x="84327" y="305909"/>
                </a:lnTo>
                <a:lnTo>
                  <a:pt x="108677" y="267636"/>
                </a:lnTo>
                <a:lnTo>
                  <a:pt x="135690" y="231341"/>
                </a:lnTo>
                <a:lnTo>
                  <a:pt x="165230" y="197159"/>
                </a:lnTo>
                <a:lnTo>
                  <a:pt x="197159" y="165230"/>
                </a:lnTo>
                <a:lnTo>
                  <a:pt x="231341" y="135690"/>
                </a:lnTo>
                <a:lnTo>
                  <a:pt x="267636" y="108676"/>
                </a:lnTo>
                <a:lnTo>
                  <a:pt x="305909" y="84327"/>
                </a:lnTo>
                <a:lnTo>
                  <a:pt x="346022" y="62778"/>
                </a:lnTo>
                <a:lnTo>
                  <a:pt x="387838" y="44168"/>
                </a:lnTo>
                <a:lnTo>
                  <a:pt x="431219" y="28633"/>
                </a:lnTo>
                <a:lnTo>
                  <a:pt x="476027" y="16312"/>
                </a:lnTo>
                <a:lnTo>
                  <a:pt x="522127" y="7341"/>
                </a:lnTo>
                <a:lnTo>
                  <a:pt x="569380" y="1858"/>
                </a:lnTo>
                <a:lnTo>
                  <a:pt x="617649" y="0"/>
                </a:lnTo>
                <a:lnTo>
                  <a:pt x="665918" y="1858"/>
                </a:lnTo>
                <a:lnTo>
                  <a:pt x="713170" y="7341"/>
                </a:lnTo>
                <a:lnTo>
                  <a:pt x="759270" y="16312"/>
                </a:lnTo>
                <a:lnTo>
                  <a:pt x="804079" y="28633"/>
                </a:lnTo>
                <a:lnTo>
                  <a:pt x="847460" y="44168"/>
                </a:lnTo>
                <a:lnTo>
                  <a:pt x="889275" y="62778"/>
                </a:lnTo>
                <a:lnTo>
                  <a:pt x="929388" y="84327"/>
                </a:lnTo>
                <a:lnTo>
                  <a:pt x="967661" y="108676"/>
                </a:lnTo>
                <a:lnTo>
                  <a:pt x="1003957" y="135690"/>
                </a:lnTo>
                <a:lnTo>
                  <a:pt x="1038138" y="165230"/>
                </a:lnTo>
                <a:lnTo>
                  <a:pt x="1070067" y="197159"/>
                </a:lnTo>
                <a:lnTo>
                  <a:pt x="1099607" y="231341"/>
                </a:lnTo>
                <a:lnTo>
                  <a:pt x="1126621" y="267636"/>
                </a:lnTo>
                <a:lnTo>
                  <a:pt x="1150971" y="305909"/>
                </a:lnTo>
                <a:lnTo>
                  <a:pt x="1172519" y="346022"/>
                </a:lnTo>
                <a:lnTo>
                  <a:pt x="1191130" y="387838"/>
                </a:lnTo>
                <a:lnTo>
                  <a:pt x="1206664" y="431219"/>
                </a:lnTo>
                <a:lnTo>
                  <a:pt x="1218985" y="476027"/>
                </a:lnTo>
                <a:lnTo>
                  <a:pt x="1227956" y="522127"/>
                </a:lnTo>
                <a:lnTo>
                  <a:pt x="1233440" y="569380"/>
                </a:lnTo>
                <a:lnTo>
                  <a:pt x="1235298" y="617649"/>
                </a:lnTo>
                <a:lnTo>
                  <a:pt x="1233440" y="665918"/>
                </a:lnTo>
                <a:lnTo>
                  <a:pt x="1227956" y="713171"/>
                </a:lnTo>
                <a:lnTo>
                  <a:pt x="1218985" y="759270"/>
                </a:lnTo>
                <a:lnTo>
                  <a:pt x="1206664" y="804079"/>
                </a:lnTo>
                <a:lnTo>
                  <a:pt x="1191130" y="847460"/>
                </a:lnTo>
                <a:lnTo>
                  <a:pt x="1172519" y="889275"/>
                </a:lnTo>
                <a:lnTo>
                  <a:pt x="1150971" y="929388"/>
                </a:lnTo>
                <a:lnTo>
                  <a:pt x="1126621" y="967661"/>
                </a:lnTo>
                <a:lnTo>
                  <a:pt x="1099607" y="1003957"/>
                </a:lnTo>
                <a:lnTo>
                  <a:pt x="1070067" y="1038138"/>
                </a:lnTo>
                <a:lnTo>
                  <a:pt x="1038138" y="1070067"/>
                </a:lnTo>
                <a:lnTo>
                  <a:pt x="1003957" y="1099607"/>
                </a:lnTo>
                <a:lnTo>
                  <a:pt x="967661" y="1126621"/>
                </a:lnTo>
                <a:lnTo>
                  <a:pt x="929388" y="1150971"/>
                </a:lnTo>
                <a:lnTo>
                  <a:pt x="889275" y="1172519"/>
                </a:lnTo>
                <a:lnTo>
                  <a:pt x="847460" y="1191130"/>
                </a:lnTo>
                <a:lnTo>
                  <a:pt x="804079" y="1206664"/>
                </a:lnTo>
                <a:lnTo>
                  <a:pt x="759270" y="1218985"/>
                </a:lnTo>
                <a:lnTo>
                  <a:pt x="713170" y="1227956"/>
                </a:lnTo>
                <a:lnTo>
                  <a:pt x="665918" y="1233440"/>
                </a:lnTo>
                <a:lnTo>
                  <a:pt x="617649" y="1235298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295082" y="7053657"/>
            <a:ext cx="1235710" cy="1235710"/>
          </a:xfrm>
          <a:custGeom>
            <a:avLst/>
            <a:gdLst/>
            <a:ahLst/>
            <a:cxnLst/>
            <a:rect l="l" t="t" r="r" b="b"/>
            <a:pathLst>
              <a:path w="1235710" h="1235709">
                <a:moveTo>
                  <a:pt x="617649" y="1235298"/>
                </a:moveTo>
                <a:lnTo>
                  <a:pt x="569380" y="1233440"/>
                </a:lnTo>
                <a:lnTo>
                  <a:pt x="522127" y="1227956"/>
                </a:lnTo>
                <a:lnTo>
                  <a:pt x="476027" y="1218985"/>
                </a:lnTo>
                <a:lnTo>
                  <a:pt x="431219" y="1206664"/>
                </a:lnTo>
                <a:lnTo>
                  <a:pt x="387838" y="1191130"/>
                </a:lnTo>
                <a:lnTo>
                  <a:pt x="346022" y="1172519"/>
                </a:lnTo>
                <a:lnTo>
                  <a:pt x="305909" y="1150971"/>
                </a:lnTo>
                <a:lnTo>
                  <a:pt x="267636" y="1126621"/>
                </a:lnTo>
                <a:lnTo>
                  <a:pt x="231341" y="1099607"/>
                </a:lnTo>
                <a:lnTo>
                  <a:pt x="197159" y="1070067"/>
                </a:lnTo>
                <a:lnTo>
                  <a:pt x="165230" y="1038138"/>
                </a:lnTo>
                <a:lnTo>
                  <a:pt x="135690" y="1003957"/>
                </a:lnTo>
                <a:lnTo>
                  <a:pt x="108677" y="967661"/>
                </a:lnTo>
                <a:lnTo>
                  <a:pt x="84327" y="929388"/>
                </a:lnTo>
                <a:lnTo>
                  <a:pt x="62778" y="889275"/>
                </a:lnTo>
                <a:lnTo>
                  <a:pt x="44168" y="847460"/>
                </a:lnTo>
                <a:lnTo>
                  <a:pt x="28633" y="804079"/>
                </a:lnTo>
                <a:lnTo>
                  <a:pt x="16312" y="759270"/>
                </a:lnTo>
                <a:lnTo>
                  <a:pt x="7341" y="713171"/>
                </a:lnTo>
                <a:lnTo>
                  <a:pt x="1858" y="665918"/>
                </a:lnTo>
                <a:lnTo>
                  <a:pt x="0" y="617649"/>
                </a:lnTo>
                <a:lnTo>
                  <a:pt x="1858" y="569380"/>
                </a:lnTo>
                <a:lnTo>
                  <a:pt x="7341" y="522127"/>
                </a:lnTo>
                <a:lnTo>
                  <a:pt x="16312" y="476027"/>
                </a:lnTo>
                <a:lnTo>
                  <a:pt x="28633" y="431219"/>
                </a:lnTo>
                <a:lnTo>
                  <a:pt x="44168" y="387838"/>
                </a:lnTo>
                <a:lnTo>
                  <a:pt x="62778" y="346022"/>
                </a:lnTo>
                <a:lnTo>
                  <a:pt x="84327" y="305909"/>
                </a:lnTo>
                <a:lnTo>
                  <a:pt x="108677" y="267636"/>
                </a:lnTo>
                <a:lnTo>
                  <a:pt x="135690" y="231341"/>
                </a:lnTo>
                <a:lnTo>
                  <a:pt x="165230" y="197159"/>
                </a:lnTo>
                <a:lnTo>
                  <a:pt x="197159" y="165230"/>
                </a:lnTo>
                <a:lnTo>
                  <a:pt x="231341" y="135690"/>
                </a:lnTo>
                <a:lnTo>
                  <a:pt x="267636" y="108676"/>
                </a:lnTo>
                <a:lnTo>
                  <a:pt x="305909" y="84327"/>
                </a:lnTo>
                <a:lnTo>
                  <a:pt x="346022" y="62778"/>
                </a:lnTo>
                <a:lnTo>
                  <a:pt x="387838" y="44168"/>
                </a:lnTo>
                <a:lnTo>
                  <a:pt x="431219" y="28633"/>
                </a:lnTo>
                <a:lnTo>
                  <a:pt x="476027" y="16312"/>
                </a:lnTo>
                <a:lnTo>
                  <a:pt x="522127" y="7341"/>
                </a:lnTo>
                <a:lnTo>
                  <a:pt x="569380" y="1858"/>
                </a:lnTo>
                <a:lnTo>
                  <a:pt x="617649" y="0"/>
                </a:lnTo>
                <a:lnTo>
                  <a:pt x="665918" y="1858"/>
                </a:lnTo>
                <a:lnTo>
                  <a:pt x="713170" y="7341"/>
                </a:lnTo>
                <a:lnTo>
                  <a:pt x="759270" y="16312"/>
                </a:lnTo>
                <a:lnTo>
                  <a:pt x="804079" y="28633"/>
                </a:lnTo>
                <a:lnTo>
                  <a:pt x="847460" y="44168"/>
                </a:lnTo>
                <a:lnTo>
                  <a:pt x="889275" y="62778"/>
                </a:lnTo>
                <a:lnTo>
                  <a:pt x="929388" y="84327"/>
                </a:lnTo>
                <a:lnTo>
                  <a:pt x="967661" y="108676"/>
                </a:lnTo>
                <a:lnTo>
                  <a:pt x="1003957" y="135690"/>
                </a:lnTo>
                <a:lnTo>
                  <a:pt x="1038138" y="165230"/>
                </a:lnTo>
                <a:lnTo>
                  <a:pt x="1070067" y="197159"/>
                </a:lnTo>
                <a:lnTo>
                  <a:pt x="1099607" y="231341"/>
                </a:lnTo>
                <a:lnTo>
                  <a:pt x="1126621" y="267636"/>
                </a:lnTo>
                <a:lnTo>
                  <a:pt x="1150971" y="305909"/>
                </a:lnTo>
                <a:lnTo>
                  <a:pt x="1172519" y="346022"/>
                </a:lnTo>
                <a:lnTo>
                  <a:pt x="1191130" y="387838"/>
                </a:lnTo>
                <a:lnTo>
                  <a:pt x="1206664" y="431219"/>
                </a:lnTo>
                <a:lnTo>
                  <a:pt x="1218985" y="476027"/>
                </a:lnTo>
                <a:lnTo>
                  <a:pt x="1227956" y="522127"/>
                </a:lnTo>
                <a:lnTo>
                  <a:pt x="1233440" y="569380"/>
                </a:lnTo>
                <a:lnTo>
                  <a:pt x="1235298" y="617649"/>
                </a:lnTo>
                <a:lnTo>
                  <a:pt x="1233440" y="665918"/>
                </a:lnTo>
                <a:lnTo>
                  <a:pt x="1227956" y="713171"/>
                </a:lnTo>
                <a:lnTo>
                  <a:pt x="1218985" y="759270"/>
                </a:lnTo>
                <a:lnTo>
                  <a:pt x="1206664" y="804079"/>
                </a:lnTo>
                <a:lnTo>
                  <a:pt x="1191130" y="847460"/>
                </a:lnTo>
                <a:lnTo>
                  <a:pt x="1172519" y="889275"/>
                </a:lnTo>
                <a:lnTo>
                  <a:pt x="1150971" y="929388"/>
                </a:lnTo>
                <a:lnTo>
                  <a:pt x="1126621" y="967661"/>
                </a:lnTo>
                <a:lnTo>
                  <a:pt x="1099607" y="1003957"/>
                </a:lnTo>
                <a:lnTo>
                  <a:pt x="1070067" y="1038138"/>
                </a:lnTo>
                <a:lnTo>
                  <a:pt x="1038138" y="1070067"/>
                </a:lnTo>
                <a:lnTo>
                  <a:pt x="1003957" y="1099607"/>
                </a:lnTo>
                <a:lnTo>
                  <a:pt x="967661" y="1126621"/>
                </a:lnTo>
                <a:lnTo>
                  <a:pt x="929388" y="1150971"/>
                </a:lnTo>
                <a:lnTo>
                  <a:pt x="889275" y="1172519"/>
                </a:lnTo>
                <a:lnTo>
                  <a:pt x="847460" y="1191130"/>
                </a:lnTo>
                <a:lnTo>
                  <a:pt x="804079" y="1206664"/>
                </a:lnTo>
                <a:lnTo>
                  <a:pt x="759270" y="1218985"/>
                </a:lnTo>
                <a:lnTo>
                  <a:pt x="713170" y="1227956"/>
                </a:lnTo>
                <a:lnTo>
                  <a:pt x="665918" y="1233440"/>
                </a:lnTo>
                <a:lnTo>
                  <a:pt x="617649" y="1235298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44700" y="2089345"/>
            <a:ext cx="8039099" cy="819765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12770" y="1711727"/>
            <a:ext cx="800100" cy="896619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700" spc="-25">
                <a:solidFill>
                  <a:srgbClr val="282929"/>
                </a:solidFill>
                <a:latin typeface="Trebuchet MS"/>
                <a:cs typeface="Trebuchet MS"/>
              </a:rPr>
              <a:t>01</a:t>
            </a:r>
            <a:endParaRPr sz="5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82382" y="4521507"/>
            <a:ext cx="6086475" cy="197866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93675">
              <a:lnSpc>
                <a:spcPct val="100000"/>
              </a:lnSpc>
              <a:spcBef>
                <a:spcPts val="114"/>
              </a:spcBef>
            </a:pPr>
            <a:r>
              <a:rPr dirty="0" sz="5700" spc="480">
                <a:solidFill>
                  <a:srgbClr val="282929"/>
                </a:solidFill>
                <a:latin typeface="Trebuchet MS"/>
                <a:cs typeface="Trebuchet MS"/>
              </a:rPr>
              <a:t>02</a:t>
            </a:r>
            <a:endParaRPr sz="5700">
              <a:latin typeface="Trebuchet MS"/>
              <a:cs typeface="Trebuchet MS"/>
            </a:endParaRPr>
          </a:p>
          <a:p>
            <a:pPr marL="12700" marR="5080">
              <a:lnSpc>
                <a:spcPct val="128699"/>
              </a:lnSpc>
              <a:spcBef>
                <a:spcPts val="3265"/>
              </a:spcBef>
            </a:pPr>
            <a:r>
              <a:rPr dirty="0" sz="1700" spc="-130" b="1">
                <a:solidFill>
                  <a:srgbClr val="282929"/>
                </a:solidFill>
                <a:latin typeface="Verdana"/>
                <a:cs typeface="Verdana"/>
              </a:rPr>
              <a:t>Desacoplamiento</a:t>
            </a:r>
            <a:r>
              <a:rPr dirty="0" sz="1700" spc="-9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1700" spc="-114" b="1">
                <a:solidFill>
                  <a:srgbClr val="282929"/>
                </a:solidFill>
                <a:latin typeface="Verdana"/>
                <a:cs typeface="Verdana"/>
              </a:rPr>
              <a:t>Analítico:</a:t>
            </a:r>
            <a:r>
              <a:rPr dirty="0" sz="1700" spc="-9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1700" spc="100">
                <a:solidFill>
                  <a:srgbClr val="282929"/>
                </a:solidFill>
                <a:latin typeface="Trebuchet MS"/>
                <a:cs typeface="Trebuchet MS"/>
              </a:rPr>
              <a:t>Motor</a:t>
            </a:r>
            <a:r>
              <a:rPr dirty="0" sz="1700" spc="9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282929"/>
                </a:solidFill>
                <a:latin typeface="Trebuchet MS"/>
                <a:cs typeface="Trebuchet MS"/>
              </a:rPr>
              <a:t>de </a:t>
            </a:r>
            <a:r>
              <a:rPr dirty="0" sz="1700">
                <a:solidFill>
                  <a:srgbClr val="282929"/>
                </a:solidFill>
                <a:latin typeface="Trebuchet MS"/>
                <a:cs typeface="Trebuchet MS"/>
              </a:rPr>
              <a:t>Inteligencia</a:t>
            </a:r>
            <a:r>
              <a:rPr dirty="0" sz="1700" spc="9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82929"/>
                </a:solidFill>
                <a:latin typeface="Trebuchet MS"/>
                <a:cs typeface="Trebuchet MS"/>
              </a:rPr>
              <a:t>Artificial </a:t>
            </a:r>
            <a:r>
              <a:rPr dirty="0" sz="1700" spc="55">
                <a:solidFill>
                  <a:srgbClr val="282929"/>
                </a:solidFill>
                <a:latin typeface="Trebuchet MS"/>
                <a:cs typeface="Trebuchet MS"/>
              </a:rPr>
              <a:t>aislado</a:t>
            </a:r>
            <a:r>
              <a:rPr dirty="0" sz="17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17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17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282929"/>
                </a:solidFill>
                <a:latin typeface="Trebuchet MS"/>
                <a:cs typeface="Trebuchet MS"/>
              </a:rPr>
              <a:t>microservicio</a:t>
            </a:r>
            <a:r>
              <a:rPr dirty="0" sz="17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17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75">
                <a:solidFill>
                  <a:srgbClr val="282929"/>
                </a:solidFill>
                <a:latin typeface="Trebuchet MS"/>
                <a:cs typeface="Trebuchet MS"/>
              </a:rPr>
              <a:t>Python</a:t>
            </a:r>
            <a:r>
              <a:rPr dirty="0" sz="17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282929"/>
                </a:solidFill>
                <a:latin typeface="Trebuchet MS"/>
                <a:cs typeface="Trebuchet MS"/>
              </a:rPr>
              <a:t>(FastAPI/Scikit).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2382" y="7189784"/>
            <a:ext cx="4525645" cy="23069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93040">
              <a:lnSpc>
                <a:spcPct val="100000"/>
              </a:lnSpc>
              <a:spcBef>
                <a:spcPts val="114"/>
              </a:spcBef>
            </a:pPr>
            <a:r>
              <a:rPr dirty="0" sz="5700" spc="570">
                <a:solidFill>
                  <a:srgbClr val="282929"/>
                </a:solidFill>
                <a:latin typeface="Trebuchet MS"/>
                <a:cs typeface="Trebuchet MS"/>
              </a:rPr>
              <a:t>03</a:t>
            </a:r>
            <a:endParaRPr sz="5700">
              <a:latin typeface="Trebuchet MS"/>
              <a:cs typeface="Trebuchet MS"/>
            </a:endParaRPr>
          </a:p>
          <a:p>
            <a:pPr marL="12700" marR="5080">
              <a:lnSpc>
                <a:spcPct val="128699"/>
              </a:lnSpc>
              <a:spcBef>
                <a:spcPts val="3229"/>
              </a:spcBef>
            </a:pPr>
            <a:r>
              <a:rPr dirty="0" sz="1700" spc="-125" b="1">
                <a:solidFill>
                  <a:srgbClr val="282929"/>
                </a:solidFill>
                <a:latin typeface="Verdana"/>
                <a:cs typeface="Verdana"/>
              </a:rPr>
              <a:t>Portabilidad:</a:t>
            </a:r>
            <a:r>
              <a:rPr dirty="0" sz="1700" spc="-1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1700" spc="80">
                <a:solidFill>
                  <a:srgbClr val="282929"/>
                </a:solidFill>
                <a:latin typeface="Trebuchet MS"/>
                <a:cs typeface="Trebuchet MS"/>
              </a:rPr>
              <a:t>Ecosistema</a:t>
            </a:r>
            <a:r>
              <a:rPr dirty="0" sz="17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282929"/>
                </a:solidFill>
                <a:latin typeface="Trebuchet MS"/>
                <a:cs typeface="Trebuchet MS"/>
              </a:rPr>
              <a:t>completo </a:t>
            </a:r>
            <a:r>
              <a:rPr dirty="0" sz="1700" spc="75">
                <a:solidFill>
                  <a:srgbClr val="282929"/>
                </a:solidFill>
                <a:latin typeface="Trebuchet MS"/>
                <a:cs typeface="Trebuchet MS"/>
              </a:rPr>
              <a:t>orquestado</a:t>
            </a:r>
            <a:r>
              <a:rPr dirty="0" sz="1700" spc="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10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1700" spc="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282929"/>
                </a:solidFill>
                <a:latin typeface="Trebuchet MS"/>
                <a:cs typeface="Trebuchet MS"/>
              </a:rPr>
              <a:t>empaquetado</a:t>
            </a:r>
            <a:r>
              <a:rPr dirty="0" sz="1700" spc="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282929"/>
                </a:solidFill>
                <a:latin typeface="Trebuchet MS"/>
                <a:cs typeface="Trebuchet MS"/>
              </a:rPr>
              <a:t>nativamente</a:t>
            </a:r>
            <a:r>
              <a:rPr dirty="0" sz="1700" spc="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282929"/>
                </a:solidFill>
                <a:latin typeface="Trebuchet MS"/>
                <a:cs typeface="Trebuchet MS"/>
              </a:rPr>
              <a:t>en </a:t>
            </a:r>
            <a:r>
              <a:rPr dirty="0" sz="1700" spc="75">
                <a:solidFill>
                  <a:srgbClr val="282929"/>
                </a:solidFill>
                <a:latin typeface="Trebuchet MS"/>
                <a:cs typeface="Trebuchet MS"/>
              </a:rPr>
              <a:t>contenedores</a:t>
            </a:r>
            <a:r>
              <a:rPr dirty="0" sz="1700" spc="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40">
                <a:solidFill>
                  <a:srgbClr val="282929"/>
                </a:solidFill>
                <a:latin typeface="Trebuchet MS"/>
                <a:cs typeface="Trebuchet MS"/>
              </a:rPr>
              <a:t>Docker.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2382" y="2877769"/>
            <a:ext cx="5286375" cy="6921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8699"/>
              </a:lnSpc>
              <a:spcBef>
                <a:spcPts val="95"/>
              </a:spcBef>
            </a:pPr>
            <a:r>
              <a:rPr dirty="0" sz="1700" spc="-125" b="1">
                <a:solidFill>
                  <a:srgbClr val="282929"/>
                </a:solidFill>
                <a:latin typeface="Verdana"/>
                <a:cs typeface="Verdana"/>
              </a:rPr>
              <a:t>Enfoque</a:t>
            </a:r>
            <a:r>
              <a:rPr dirty="0" sz="1700" spc="-15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1700" spc="-175" b="1">
                <a:solidFill>
                  <a:srgbClr val="282929"/>
                </a:solidFill>
                <a:latin typeface="Verdana"/>
                <a:cs typeface="Verdana"/>
              </a:rPr>
              <a:t>API-</a:t>
            </a:r>
            <a:r>
              <a:rPr dirty="0" sz="1700" spc="-120" b="1">
                <a:solidFill>
                  <a:srgbClr val="282929"/>
                </a:solidFill>
                <a:latin typeface="Verdana"/>
                <a:cs typeface="Verdana"/>
              </a:rPr>
              <a:t>First:</a:t>
            </a:r>
            <a:r>
              <a:rPr dirty="0" sz="1700" spc="-15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1700" spc="60">
                <a:solidFill>
                  <a:srgbClr val="282929"/>
                </a:solidFill>
                <a:latin typeface="Trebuchet MS"/>
                <a:cs typeface="Trebuchet MS"/>
              </a:rPr>
              <a:t>Frontend</a:t>
            </a:r>
            <a:r>
              <a:rPr dirty="0" sz="17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6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17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282929"/>
                </a:solidFill>
                <a:latin typeface="Trebuchet MS"/>
                <a:cs typeface="Trebuchet MS"/>
              </a:rPr>
              <a:t>React</a:t>
            </a:r>
            <a:r>
              <a:rPr dirty="0" sz="17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45">
                <a:solidFill>
                  <a:srgbClr val="282929"/>
                </a:solidFill>
                <a:latin typeface="Trebuchet MS"/>
                <a:cs typeface="Trebuchet MS"/>
              </a:rPr>
              <a:t>(TypeScript) </a:t>
            </a:r>
            <a:r>
              <a:rPr dirty="0" sz="1700" spc="80">
                <a:solidFill>
                  <a:srgbClr val="282929"/>
                </a:solidFill>
                <a:latin typeface="Trebuchet MS"/>
                <a:cs typeface="Trebuchet MS"/>
              </a:rPr>
              <a:t>consumiendo</a:t>
            </a:r>
            <a:r>
              <a:rPr dirty="0" sz="1700" spc="-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70">
                <a:solidFill>
                  <a:srgbClr val="282929"/>
                </a:solidFill>
                <a:latin typeface="Trebuchet MS"/>
                <a:cs typeface="Trebuchet MS"/>
              </a:rPr>
              <a:t>servicios</a:t>
            </a:r>
            <a:r>
              <a:rPr dirty="0" sz="1700" spc="-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282929"/>
                </a:solidFill>
                <a:latin typeface="Trebuchet MS"/>
                <a:cs typeface="Trebuchet MS"/>
              </a:rPr>
              <a:t>RESTful.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065916" y="127031"/>
            <a:ext cx="8156575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657225" marR="5080" indent="-645160">
              <a:lnSpc>
                <a:spcPts val="6830"/>
              </a:lnSpc>
            </a:pPr>
            <a:r>
              <a:rPr dirty="0" spc="745"/>
              <a:t>ARQUITECTURA</a:t>
            </a:r>
            <a:r>
              <a:rPr dirty="0" spc="-240"/>
              <a:t> </a:t>
            </a:r>
            <a:r>
              <a:rPr dirty="0" spc="900"/>
              <a:t>DEL </a:t>
            </a:r>
            <a:r>
              <a:rPr dirty="0" spc="720"/>
              <a:t>SISTEMA</a:t>
            </a:r>
            <a:r>
              <a:rPr dirty="0" spc="-235"/>
              <a:t> </a:t>
            </a:r>
            <a:r>
              <a:rPr dirty="0" spc="305"/>
              <a:t>(N-</a:t>
            </a:r>
            <a:r>
              <a:rPr dirty="0" spc="365"/>
              <a:t>TIER)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167341"/>
            <a:ext cx="4054475" cy="1120140"/>
          </a:xfrm>
          <a:custGeom>
            <a:avLst/>
            <a:gdLst/>
            <a:ahLst/>
            <a:cxnLst/>
            <a:rect l="l" t="t" r="r" b="b"/>
            <a:pathLst>
              <a:path w="4054475" h="1120140">
                <a:moveTo>
                  <a:pt x="0" y="44310"/>
                </a:moveTo>
                <a:lnTo>
                  <a:pt x="118785" y="32191"/>
                </a:lnTo>
                <a:lnTo>
                  <a:pt x="268456" y="19589"/>
                </a:lnTo>
                <a:lnTo>
                  <a:pt x="368258" y="12844"/>
                </a:lnTo>
                <a:lnTo>
                  <a:pt x="468050" y="7472"/>
                </a:lnTo>
                <a:lnTo>
                  <a:pt x="567811" y="3513"/>
                </a:lnTo>
                <a:lnTo>
                  <a:pt x="667518" y="1009"/>
                </a:lnTo>
                <a:lnTo>
                  <a:pt x="767149" y="0"/>
                </a:lnTo>
                <a:lnTo>
                  <a:pt x="866680" y="526"/>
                </a:lnTo>
                <a:lnTo>
                  <a:pt x="966091" y="2629"/>
                </a:lnTo>
                <a:lnTo>
                  <a:pt x="1065358" y="6348"/>
                </a:lnTo>
                <a:lnTo>
                  <a:pt x="1164459" y="11726"/>
                </a:lnTo>
                <a:lnTo>
                  <a:pt x="1263371" y="18802"/>
                </a:lnTo>
                <a:lnTo>
                  <a:pt x="1362072" y="27618"/>
                </a:lnTo>
                <a:lnTo>
                  <a:pt x="1460540" y="38214"/>
                </a:lnTo>
                <a:lnTo>
                  <a:pt x="1558753" y="50630"/>
                </a:lnTo>
                <a:lnTo>
                  <a:pt x="1607756" y="57534"/>
                </a:lnTo>
                <a:lnTo>
                  <a:pt x="1656687" y="64908"/>
                </a:lnTo>
                <a:lnTo>
                  <a:pt x="1705542" y="72757"/>
                </a:lnTo>
                <a:lnTo>
                  <a:pt x="1754320" y="81088"/>
                </a:lnTo>
                <a:lnTo>
                  <a:pt x="1803017" y="89904"/>
                </a:lnTo>
                <a:lnTo>
                  <a:pt x="1851630" y="99210"/>
                </a:lnTo>
                <a:lnTo>
                  <a:pt x="1900157" y="109013"/>
                </a:lnTo>
                <a:lnTo>
                  <a:pt x="1948595" y="119317"/>
                </a:lnTo>
                <a:lnTo>
                  <a:pt x="1996941" y="130127"/>
                </a:lnTo>
                <a:lnTo>
                  <a:pt x="2045192" y="141448"/>
                </a:lnTo>
                <a:lnTo>
                  <a:pt x="2093346" y="153285"/>
                </a:lnTo>
                <a:lnTo>
                  <a:pt x="2141399" y="165644"/>
                </a:lnTo>
                <a:lnTo>
                  <a:pt x="2189349" y="178529"/>
                </a:lnTo>
                <a:lnTo>
                  <a:pt x="2237193" y="191946"/>
                </a:lnTo>
                <a:lnTo>
                  <a:pt x="2284928" y="205899"/>
                </a:lnTo>
                <a:lnTo>
                  <a:pt x="2332551" y="220394"/>
                </a:lnTo>
                <a:lnTo>
                  <a:pt x="2380061" y="235436"/>
                </a:lnTo>
                <a:lnTo>
                  <a:pt x="2427945" y="251189"/>
                </a:lnTo>
                <a:lnTo>
                  <a:pt x="2475633" y="267474"/>
                </a:lnTo>
                <a:lnTo>
                  <a:pt x="2523125" y="284282"/>
                </a:lnTo>
                <a:lnTo>
                  <a:pt x="2570422" y="301602"/>
                </a:lnTo>
                <a:lnTo>
                  <a:pt x="2617525" y="319426"/>
                </a:lnTo>
                <a:lnTo>
                  <a:pt x="2664434" y="337744"/>
                </a:lnTo>
                <a:lnTo>
                  <a:pt x="2711149" y="356546"/>
                </a:lnTo>
                <a:lnTo>
                  <a:pt x="2757672" y="375823"/>
                </a:lnTo>
                <a:lnTo>
                  <a:pt x="2804002" y="395564"/>
                </a:lnTo>
                <a:lnTo>
                  <a:pt x="2850142" y="415761"/>
                </a:lnTo>
                <a:lnTo>
                  <a:pt x="2896090" y="436404"/>
                </a:lnTo>
                <a:lnTo>
                  <a:pt x="2941849" y="457483"/>
                </a:lnTo>
                <a:lnTo>
                  <a:pt x="2987417" y="478988"/>
                </a:lnTo>
                <a:lnTo>
                  <a:pt x="3032797" y="500910"/>
                </a:lnTo>
                <a:lnTo>
                  <a:pt x="3077988" y="523240"/>
                </a:lnTo>
                <a:lnTo>
                  <a:pt x="3122992" y="545968"/>
                </a:lnTo>
                <a:lnTo>
                  <a:pt x="3167809" y="569083"/>
                </a:lnTo>
                <a:lnTo>
                  <a:pt x="3212439" y="592578"/>
                </a:lnTo>
                <a:lnTo>
                  <a:pt x="3256883" y="616441"/>
                </a:lnTo>
                <a:lnTo>
                  <a:pt x="3301142" y="640663"/>
                </a:lnTo>
                <a:lnTo>
                  <a:pt x="3345216" y="665236"/>
                </a:lnTo>
                <a:lnTo>
                  <a:pt x="3389106" y="690148"/>
                </a:lnTo>
                <a:lnTo>
                  <a:pt x="3432813" y="715391"/>
                </a:lnTo>
                <a:lnTo>
                  <a:pt x="3476337" y="740955"/>
                </a:lnTo>
                <a:lnTo>
                  <a:pt x="3519679" y="766830"/>
                </a:lnTo>
                <a:lnTo>
                  <a:pt x="3562839" y="793008"/>
                </a:lnTo>
                <a:lnTo>
                  <a:pt x="3605818" y="819477"/>
                </a:lnTo>
                <a:lnTo>
                  <a:pt x="3648617" y="846229"/>
                </a:lnTo>
                <a:lnTo>
                  <a:pt x="3691237" y="873253"/>
                </a:lnTo>
                <a:lnTo>
                  <a:pt x="3733677" y="900541"/>
                </a:lnTo>
                <a:lnTo>
                  <a:pt x="3775939" y="928083"/>
                </a:lnTo>
                <a:lnTo>
                  <a:pt x="3818022" y="955869"/>
                </a:lnTo>
                <a:lnTo>
                  <a:pt x="3860555" y="984322"/>
                </a:lnTo>
                <a:lnTo>
                  <a:pt x="3902947" y="1013093"/>
                </a:lnTo>
                <a:lnTo>
                  <a:pt x="3945174" y="1042194"/>
                </a:lnTo>
                <a:lnTo>
                  <a:pt x="3987208" y="1071637"/>
                </a:lnTo>
                <a:lnTo>
                  <a:pt x="4029025" y="1101437"/>
                </a:lnTo>
                <a:lnTo>
                  <a:pt x="4054133" y="1119657"/>
                </a:lnTo>
                <a:lnTo>
                  <a:pt x="0" y="1119657"/>
                </a:lnTo>
                <a:lnTo>
                  <a:pt x="0" y="46437"/>
                </a:lnTo>
                <a:lnTo>
                  <a:pt x="0" y="45411"/>
                </a:lnTo>
                <a:lnTo>
                  <a:pt x="0" y="4431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2482904"/>
            <a:ext cx="6600824" cy="3028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6055759"/>
            <a:ext cx="6600824" cy="2724149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8177" rIns="0" bIns="0" rtlCol="0" vert="horz">
            <a:spAutoFit/>
          </a:bodyPr>
          <a:lstStyle/>
          <a:p>
            <a:pPr marL="3670935" marR="5080">
              <a:lnSpc>
                <a:spcPts val="6830"/>
              </a:lnSpc>
            </a:pPr>
            <a:r>
              <a:rPr dirty="0" spc="710"/>
              <a:t>CAPA</a:t>
            </a:r>
            <a:r>
              <a:rPr dirty="0" spc="-250"/>
              <a:t> </a:t>
            </a:r>
            <a:r>
              <a:rPr dirty="0" spc="960"/>
              <a:t>DE</a:t>
            </a:r>
            <a:r>
              <a:rPr dirty="0" spc="-250"/>
              <a:t> </a:t>
            </a:r>
            <a:r>
              <a:rPr dirty="0" spc="645"/>
              <a:t>PERSISTENCIA</a:t>
            </a:r>
            <a:r>
              <a:rPr dirty="0" spc="-250"/>
              <a:t> </a:t>
            </a:r>
            <a:r>
              <a:rPr dirty="0" spc="780"/>
              <a:t>Y </a:t>
            </a:r>
            <a:r>
              <a:rPr dirty="0" spc="765"/>
              <a:t>TRANSACCIONALIDAD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49" y="3649209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49" y="5058908"/>
            <a:ext cx="76200" cy="76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8249" y="6468608"/>
            <a:ext cx="76200" cy="761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47750" y="3449171"/>
            <a:ext cx="6052820" cy="3902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1605">
              <a:lnSpc>
                <a:spcPct val="115599"/>
              </a:lnSpc>
              <a:spcBef>
                <a:spcPts val="100"/>
              </a:spcBef>
            </a:pPr>
            <a:r>
              <a:rPr dirty="0" sz="2000" spc="-200" b="1">
                <a:solidFill>
                  <a:srgbClr val="282929"/>
                </a:solidFill>
                <a:latin typeface="Verdana"/>
                <a:cs typeface="Verdana"/>
              </a:rPr>
              <a:t>Integridad </a:t>
            </a:r>
            <a:r>
              <a:rPr dirty="0" sz="2000" spc="-204" b="1">
                <a:solidFill>
                  <a:srgbClr val="282929"/>
                </a:solidFill>
                <a:latin typeface="Verdana"/>
                <a:cs typeface="Verdana"/>
              </a:rPr>
              <a:t>ACID:</a:t>
            </a:r>
            <a:r>
              <a:rPr dirty="0" sz="2000" spc="-9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165">
                <a:solidFill>
                  <a:srgbClr val="282929"/>
                </a:solidFill>
                <a:latin typeface="Trebuchet MS"/>
                <a:cs typeface="Trebuchet MS"/>
              </a:rPr>
              <a:t>Uso</a:t>
            </a:r>
            <a:r>
              <a:rPr dirty="0" sz="20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120">
                <a:solidFill>
                  <a:srgbClr val="282929"/>
                </a:solidFill>
                <a:latin typeface="Trebuchet MS"/>
                <a:cs typeface="Trebuchet MS"/>
              </a:rPr>
              <a:t>PostgreSQL</a:t>
            </a:r>
            <a:r>
              <a:rPr dirty="0" sz="20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30">
                <a:solidFill>
                  <a:srgbClr val="282929"/>
                </a:solidFill>
                <a:latin typeface="Trebuchet MS"/>
                <a:cs typeface="Trebuchet MS"/>
              </a:rPr>
              <a:t>para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garantizar</a:t>
            </a:r>
            <a:r>
              <a:rPr dirty="0" sz="20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que</a:t>
            </a:r>
            <a:r>
              <a:rPr dirty="0" sz="20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282929"/>
                </a:solidFill>
                <a:latin typeface="Trebuchet MS"/>
                <a:cs typeface="Trebuchet MS"/>
              </a:rPr>
              <a:t>las</a:t>
            </a:r>
            <a:r>
              <a:rPr dirty="0" sz="2000" spc="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reasignaciones</a:t>
            </a:r>
            <a:r>
              <a:rPr dirty="0" sz="20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turnos</a:t>
            </a:r>
            <a:r>
              <a:rPr dirty="0" sz="2000" spc="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282929"/>
                </a:solidFill>
                <a:latin typeface="Trebuchet MS"/>
                <a:cs typeface="Trebuchet MS"/>
              </a:rPr>
              <a:t>sean </a:t>
            </a:r>
            <a:r>
              <a:rPr dirty="0" sz="2000" spc="55">
                <a:solidFill>
                  <a:srgbClr val="282929"/>
                </a:solidFill>
                <a:latin typeface="Trebuchet MS"/>
                <a:cs typeface="Trebuchet MS"/>
              </a:rPr>
              <a:t>atómicas</a:t>
            </a:r>
            <a:r>
              <a:rPr dirty="0" sz="20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00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seguras.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133350">
              <a:lnSpc>
                <a:spcPct val="115599"/>
              </a:lnSpc>
              <a:spcBef>
                <a:spcPts val="5"/>
              </a:spcBef>
            </a:pPr>
            <a:r>
              <a:rPr dirty="0" sz="2000" spc="-150" b="1">
                <a:solidFill>
                  <a:srgbClr val="282929"/>
                </a:solidFill>
                <a:latin typeface="Verdana"/>
                <a:cs typeface="Verdana"/>
              </a:rPr>
              <a:t>Prevención</a:t>
            </a:r>
            <a:r>
              <a:rPr dirty="0" sz="2000" spc="-19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45" b="1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000" spc="-18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40" b="1">
                <a:solidFill>
                  <a:srgbClr val="282929"/>
                </a:solidFill>
                <a:latin typeface="Verdana"/>
                <a:cs typeface="Verdana"/>
              </a:rPr>
              <a:t>Concurrencia:</a:t>
            </a:r>
            <a:r>
              <a:rPr dirty="0" sz="2000" spc="-18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Prisma</a:t>
            </a:r>
            <a:r>
              <a:rPr dirty="0" sz="2000" spc="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210">
                <a:solidFill>
                  <a:srgbClr val="282929"/>
                </a:solidFill>
                <a:latin typeface="Trebuchet MS"/>
                <a:cs typeface="Trebuchet MS"/>
              </a:rPr>
              <a:t>ORM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40">
                <a:solidFill>
                  <a:srgbClr val="282929"/>
                </a:solidFill>
                <a:latin typeface="Trebuchet MS"/>
                <a:cs typeface="Trebuchet MS"/>
              </a:rPr>
              <a:t>actúa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como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0">
                <a:solidFill>
                  <a:srgbClr val="282929"/>
                </a:solidFill>
                <a:latin typeface="Trebuchet MS"/>
                <a:cs typeface="Trebuchet MS"/>
              </a:rPr>
              <a:t>capa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282929"/>
                </a:solidFill>
                <a:latin typeface="Trebuchet MS"/>
                <a:cs typeface="Trebuchet MS"/>
              </a:rPr>
              <a:t>acceso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282929"/>
                </a:solidFill>
                <a:latin typeface="Trebuchet MS"/>
                <a:cs typeface="Trebuchet MS"/>
              </a:rPr>
              <a:t>a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85">
                <a:solidFill>
                  <a:srgbClr val="282929"/>
                </a:solidFill>
                <a:latin typeface="Trebuchet MS"/>
                <a:cs typeface="Trebuchet MS"/>
              </a:rPr>
              <a:t>datos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tipada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(Type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Safety).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</a:pPr>
            <a:r>
              <a:rPr dirty="0" sz="2000" spc="-165" b="1">
                <a:solidFill>
                  <a:srgbClr val="282929"/>
                </a:solidFill>
                <a:latin typeface="Verdana"/>
                <a:cs typeface="Verdana"/>
              </a:rPr>
              <a:t>Objetivo</a:t>
            </a:r>
            <a:r>
              <a:rPr dirty="0" sz="2000" spc="-1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20" b="1">
                <a:solidFill>
                  <a:srgbClr val="282929"/>
                </a:solidFill>
                <a:latin typeface="Verdana"/>
                <a:cs typeface="Verdana"/>
              </a:rPr>
              <a:t>Técnico:</a:t>
            </a:r>
            <a:r>
              <a:rPr dirty="0" sz="2000" spc="-1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Evitar</a:t>
            </a:r>
            <a:r>
              <a:rPr dirty="0" sz="20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282929"/>
                </a:solidFill>
                <a:latin typeface="Trebuchet MS"/>
                <a:cs typeface="Trebuchet MS"/>
              </a:rPr>
              <a:t>colisiones</a:t>
            </a:r>
            <a:r>
              <a:rPr dirty="0" sz="20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282929"/>
                </a:solidFill>
                <a:latin typeface="Trebuchet MS"/>
                <a:cs typeface="Trebuchet MS"/>
              </a:rPr>
              <a:t>si</a:t>
            </a:r>
            <a:r>
              <a:rPr dirty="0" sz="20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múltiples </a:t>
            </a:r>
            <a:r>
              <a:rPr dirty="0" sz="2000" spc="85">
                <a:solidFill>
                  <a:srgbClr val="282929"/>
                </a:solidFill>
                <a:latin typeface="Trebuchet MS"/>
                <a:cs typeface="Trebuchet MS"/>
              </a:rPr>
              <a:t>supervisores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intentan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editar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disponibilidad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282929"/>
                </a:solidFill>
                <a:latin typeface="Trebuchet MS"/>
                <a:cs typeface="Trebuchet MS"/>
              </a:rPr>
              <a:t>la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flota</a:t>
            </a:r>
            <a:r>
              <a:rPr dirty="0" sz="2000" spc="-9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simultáneamente.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56113" y="9516359"/>
            <a:ext cx="3731895" cy="770890"/>
          </a:xfrm>
          <a:custGeom>
            <a:avLst/>
            <a:gdLst/>
            <a:ahLst/>
            <a:cxnLst/>
            <a:rect l="l" t="t" r="r" b="b"/>
            <a:pathLst>
              <a:path w="3731894" h="770890">
                <a:moveTo>
                  <a:pt x="2429811" y="49826"/>
                </a:moveTo>
                <a:lnTo>
                  <a:pt x="2498433" y="42189"/>
                </a:lnTo>
                <a:lnTo>
                  <a:pt x="2648042" y="27665"/>
                </a:lnTo>
                <a:lnTo>
                  <a:pt x="2797730" y="16047"/>
                </a:lnTo>
                <a:lnTo>
                  <a:pt x="2899268" y="9884"/>
                </a:lnTo>
                <a:lnTo>
                  <a:pt x="2899069" y="9906"/>
                </a:lnTo>
                <a:lnTo>
                  <a:pt x="2947424" y="7472"/>
                </a:lnTo>
                <a:lnTo>
                  <a:pt x="3047185" y="3513"/>
                </a:lnTo>
                <a:lnTo>
                  <a:pt x="3146892" y="1009"/>
                </a:lnTo>
                <a:lnTo>
                  <a:pt x="3246523" y="0"/>
                </a:lnTo>
                <a:lnTo>
                  <a:pt x="3346054" y="526"/>
                </a:lnTo>
                <a:lnTo>
                  <a:pt x="3445465" y="2629"/>
                </a:lnTo>
                <a:lnTo>
                  <a:pt x="3544732" y="6348"/>
                </a:lnTo>
                <a:lnTo>
                  <a:pt x="3643833" y="11726"/>
                </a:lnTo>
                <a:lnTo>
                  <a:pt x="3731884" y="17978"/>
                </a:lnTo>
                <a:lnTo>
                  <a:pt x="3731884" y="770640"/>
                </a:lnTo>
                <a:lnTo>
                  <a:pt x="0" y="770640"/>
                </a:lnTo>
                <a:lnTo>
                  <a:pt x="25430" y="751851"/>
                </a:lnTo>
                <a:lnTo>
                  <a:pt x="65371" y="723894"/>
                </a:lnTo>
                <a:lnTo>
                  <a:pt x="106048" y="696899"/>
                </a:lnTo>
                <a:lnTo>
                  <a:pt x="147426" y="670839"/>
                </a:lnTo>
                <a:lnTo>
                  <a:pt x="189472" y="645688"/>
                </a:lnTo>
                <a:lnTo>
                  <a:pt x="232154" y="621420"/>
                </a:lnTo>
                <a:lnTo>
                  <a:pt x="275438" y="598009"/>
                </a:lnTo>
                <a:lnTo>
                  <a:pt x="319291" y="575428"/>
                </a:lnTo>
                <a:lnTo>
                  <a:pt x="363680" y="553651"/>
                </a:lnTo>
                <a:lnTo>
                  <a:pt x="408573" y="532653"/>
                </a:lnTo>
                <a:lnTo>
                  <a:pt x="453935" y="512406"/>
                </a:lnTo>
                <a:lnTo>
                  <a:pt x="499734" y="492884"/>
                </a:lnTo>
                <a:lnTo>
                  <a:pt x="545937" y="474062"/>
                </a:lnTo>
                <a:lnTo>
                  <a:pt x="592511" y="455913"/>
                </a:lnTo>
                <a:lnTo>
                  <a:pt x="639423" y="438411"/>
                </a:lnTo>
                <a:lnTo>
                  <a:pt x="686639" y="421529"/>
                </a:lnTo>
                <a:lnTo>
                  <a:pt x="734127" y="405242"/>
                </a:lnTo>
                <a:lnTo>
                  <a:pt x="781853" y="389522"/>
                </a:lnTo>
                <a:lnTo>
                  <a:pt x="829785" y="374345"/>
                </a:lnTo>
                <a:lnTo>
                  <a:pt x="877889" y="359683"/>
                </a:lnTo>
                <a:lnTo>
                  <a:pt x="974482" y="331801"/>
                </a:lnTo>
                <a:lnTo>
                  <a:pt x="1071368" y="305667"/>
                </a:lnTo>
                <a:lnTo>
                  <a:pt x="1216666" y="269284"/>
                </a:lnTo>
                <a:lnTo>
                  <a:pt x="1410954" y="224412"/>
                </a:lnTo>
                <a:lnTo>
                  <a:pt x="1606708" y="182651"/>
                </a:lnTo>
                <a:lnTo>
                  <a:pt x="1803547" y="144346"/>
                </a:lnTo>
                <a:lnTo>
                  <a:pt x="1951779" y="118081"/>
                </a:lnTo>
                <a:lnTo>
                  <a:pt x="2100446" y="94079"/>
                </a:lnTo>
                <a:lnTo>
                  <a:pt x="2249470" y="72479"/>
                </a:lnTo>
                <a:lnTo>
                  <a:pt x="2398776" y="53418"/>
                </a:lnTo>
                <a:lnTo>
                  <a:pt x="2429811" y="49826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4378960" cy="826769"/>
          </a:xfrm>
          <a:custGeom>
            <a:avLst/>
            <a:gdLst/>
            <a:ahLst/>
            <a:cxnLst/>
            <a:rect l="l" t="t" r="r" b="b"/>
            <a:pathLst>
              <a:path w="4378960" h="826769">
                <a:moveTo>
                  <a:pt x="0" y="0"/>
                </a:moveTo>
                <a:lnTo>
                  <a:pt x="4378861" y="0"/>
                </a:lnTo>
                <a:lnTo>
                  <a:pt x="4357243" y="24718"/>
                </a:lnTo>
                <a:lnTo>
                  <a:pt x="4324704" y="60488"/>
                </a:lnTo>
                <a:lnTo>
                  <a:pt x="4291451" y="95643"/>
                </a:lnTo>
                <a:lnTo>
                  <a:pt x="4257503" y="130164"/>
                </a:lnTo>
                <a:lnTo>
                  <a:pt x="4222876" y="164037"/>
                </a:lnTo>
                <a:lnTo>
                  <a:pt x="4187589" y="197242"/>
                </a:lnTo>
                <a:lnTo>
                  <a:pt x="4151659" y="229765"/>
                </a:lnTo>
                <a:lnTo>
                  <a:pt x="4115104" y="261588"/>
                </a:lnTo>
                <a:lnTo>
                  <a:pt x="4077941" y="292695"/>
                </a:lnTo>
                <a:lnTo>
                  <a:pt x="4040188" y="323068"/>
                </a:lnTo>
                <a:lnTo>
                  <a:pt x="4001863" y="352691"/>
                </a:lnTo>
                <a:lnTo>
                  <a:pt x="3962982" y="381548"/>
                </a:lnTo>
                <a:lnTo>
                  <a:pt x="3923565" y="409621"/>
                </a:lnTo>
                <a:lnTo>
                  <a:pt x="3883628" y="436894"/>
                </a:lnTo>
                <a:lnTo>
                  <a:pt x="3843189" y="463350"/>
                </a:lnTo>
                <a:lnTo>
                  <a:pt x="3802266" y="488973"/>
                </a:lnTo>
                <a:lnTo>
                  <a:pt x="3760876" y="513745"/>
                </a:lnTo>
                <a:lnTo>
                  <a:pt x="3719037" y="537650"/>
                </a:lnTo>
                <a:lnTo>
                  <a:pt x="3676767" y="560671"/>
                </a:lnTo>
                <a:lnTo>
                  <a:pt x="3634083" y="582792"/>
                </a:lnTo>
                <a:lnTo>
                  <a:pt x="3591002" y="603995"/>
                </a:lnTo>
                <a:lnTo>
                  <a:pt x="3547398" y="624329"/>
                </a:lnTo>
                <a:lnTo>
                  <a:pt x="3503724" y="643583"/>
                </a:lnTo>
                <a:lnTo>
                  <a:pt x="3459561" y="661934"/>
                </a:lnTo>
                <a:lnTo>
                  <a:pt x="3415072" y="679300"/>
                </a:lnTo>
                <a:lnTo>
                  <a:pt x="3370275" y="695666"/>
                </a:lnTo>
                <a:lnTo>
                  <a:pt x="3325188" y="711014"/>
                </a:lnTo>
                <a:lnTo>
                  <a:pt x="3279828" y="725328"/>
                </a:lnTo>
                <a:lnTo>
                  <a:pt x="3234213" y="738590"/>
                </a:lnTo>
                <a:lnTo>
                  <a:pt x="3188361" y="750785"/>
                </a:lnTo>
                <a:lnTo>
                  <a:pt x="3142288" y="761894"/>
                </a:lnTo>
                <a:lnTo>
                  <a:pt x="3096013" y="771903"/>
                </a:lnTo>
                <a:lnTo>
                  <a:pt x="3049554" y="780793"/>
                </a:lnTo>
                <a:lnTo>
                  <a:pt x="3002927" y="788549"/>
                </a:lnTo>
                <a:lnTo>
                  <a:pt x="2956151" y="795152"/>
                </a:lnTo>
                <a:lnTo>
                  <a:pt x="2909243" y="800588"/>
                </a:lnTo>
                <a:lnTo>
                  <a:pt x="2862221" y="804838"/>
                </a:lnTo>
                <a:lnTo>
                  <a:pt x="2815103" y="807887"/>
                </a:lnTo>
                <a:lnTo>
                  <a:pt x="2562466" y="818558"/>
                </a:lnTo>
                <a:lnTo>
                  <a:pt x="2257819" y="825479"/>
                </a:lnTo>
                <a:lnTo>
                  <a:pt x="1951868" y="826678"/>
                </a:lnTo>
                <a:lnTo>
                  <a:pt x="1542477" y="820645"/>
                </a:lnTo>
                <a:lnTo>
                  <a:pt x="978184" y="801079"/>
                </a:lnTo>
                <a:lnTo>
                  <a:pt x="0" y="748528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3547" y="2059490"/>
            <a:ext cx="13849349" cy="793432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3289" rIns="0" bIns="0" rtlCol="0" vert="horz">
            <a:spAutoFit/>
          </a:bodyPr>
          <a:lstStyle/>
          <a:p>
            <a:pPr marL="2702560" marR="5080">
              <a:lnSpc>
                <a:spcPts val="6830"/>
              </a:lnSpc>
            </a:pPr>
            <a:r>
              <a:rPr dirty="0" spc="1050"/>
              <a:t>MODELO</a:t>
            </a:r>
            <a:r>
              <a:rPr dirty="0" spc="-240"/>
              <a:t> </a:t>
            </a:r>
            <a:r>
              <a:rPr dirty="0" spc="805"/>
              <a:t>RELACIONAL</a:t>
            </a:r>
            <a:r>
              <a:rPr dirty="0" spc="-240"/>
              <a:t> </a:t>
            </a:r>
            <a:r>
              <a:rPr dirty="0" spc="490"/>
              <a:t>(DATA </a:t>
            </a:r>
            <a:r>
              <a:rPr dirty="0" spc="835"/>
              <a:t>WAREHOUSE</a:t>
            </a:r>
            <a:r>
              <a:rPr dirty="0" spc="-225"/>
              <a:t> </a:t>
            </a:r>
            <a:r>
              <a:rPr dirty="0" spc="550"/>
              <a:t>OPERATIVO)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62" y="2582042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62" y="4582291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62" y="7154041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11247" y="2413798"/>
            <a:ext cx="3332479" cy="6361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445"/>
              </a:lnSpc>
              <a:spcBef>
                <a:spcPts val="100"/>
              </a:spcBef>
            </a:pPr>
            <a:r>
              <a:rPr dirty="0" sz="2200" spc="-10" b="1">
                <a:solidFill>
                  <a:srgbClr val="282929"/>
                </a:solidFill>
                <a:latin typeface="Verdana"/>
                <a:cs typeface="Verdana"/>
              </a:rPr>
              <a:t>Estructura</a:t>
            </a:r>
            <a:endParaRPr sz="2200">
              <a:latin typeface="Verdana"/>
              <a:cs typeface="Verdana"/>
            </a:endParaRPr>
          </a:p>
          <a:p>
            <a:pPr marL="12700" marR="78105">
              <a:lnSpc>
                <a:spcPts val="2250"/>
              </a:lnSpc>
              <a:spcBef>
                <a:spcPts val="204"/>
              </a:spcBef>
            </a:pPr>
            <a:r>
              <a:rPr dirty="0" sz="2200" spc="-35" b="1">
                <a:solidFill>
                  <a:srgbClr val="282929"/>
                </a:solidFill>
                <a:latin typeface="Verdana"/>
                <a:cs typeface="Verdana"/>
              </a:rPr>
              <a:t>Normalizada:</a:t>
            </a:r>
            <a:r>
              <a:rPr dirty="0" sz="2200" spc="-10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229">
                <a:solidFill>
                  <a:srgbClr val="282929"/>
                </a:solidFill>
                <a:latin typeface="Trebuchet MS"/>
                <a:cs typeface="Trebuchet MS"/>
              </a:rPr>
              <a:t>Diseño </a:t>
            </a:r>
            <a:r>
              <a:rPr dirty="0" sz="2200" spc="220">
                <a:solidFill>
                  <a:srgbClr val="282929"/>
                </a:solidFill>
                <a:latin typeface="Trebuchet MS"/>
                <a:cs typeface="Trebuchet MS"/>
              </a:rPr>
              <a:t>enfocado</a:t>
            </a:r>
            <a:r>
              <a:rPr dirty="0" sz="2200" spc="2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5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200" spc="2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10">
                <a:solidFill>
                  <a:srgbClr val="282929"/>
                </a:solidFill>
                <a:latin typeface="Trebuchet MS"/>
                <a:cs typeface="Trebuchet MS"/>
              </a:rPr>
              <a:t>soportar </a:t>
            </a:r>
            <a:r>
              <a:rPr dirty="0" sz="2200" spc="145">
                <a:solidFill>
                  <a:srgbClr val="282929"/>
                </a:solidFill>
                <a:latin typeface="Trebuchet MS"/>
                <a:cs typeface="Trebuchet MS"/>
              </a:rPr>
              <a:t>tanto</a:t>
            </a:r>
            <a:r>
              <a:rPr dirty="0" sz="2200" spc="2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5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200" spc="2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04">
                <a:solidFill>
                  <a:srgbClr val="282929"/>
                </a:solidFill>
                <a:latin typeface="Trebuchet MS"/>
                <a:cs typeface="Trebuchet MS"/>
              </a:rPr>
              <a:t>carga</a:t>
            </a:r>
            <a:endParaRPr sz="2200">
              <a:latin typeface="Trebuchet MS"/>
              <a:cs typeface="Trebuchet MS"/>
            </a:endParaRPr>
          </a:p>
          <a:p>
            <a:pPr marL="12700" marR="36830">
              <a:lnSpc>
                <a:spcPts val="2250"/>
              </a:lnSpc>
            </a:pPr>
            <a:r>
              <a:rPr dirty="0" sz="2200" spc="195">
                <a:solidFill>
                  <a:srgbClr val="282929"/>
                </a:solidFill>
                <a:latin typeface="Trebuchet MS"/>
                <a:cs typeface="Trebuchet MS"/>
              </a:rPr>
              <a:t>transaccional</a:t>
            </a:r>
            <a:r>
              <a:rPr dirty="0" sz="2200" spc="29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29">
                <a:solidFill>
                  <a:srgbClr val="282929"/>
                </a:solidFill>
                <a:latin typeface="Trebuchet MS"/>
                <a:cs typeface="Trebuchet MS"/>
              </a:rPr>
              <a:t>como</a:t>
            </a:r>
            <a:r>
              <a:rPr dirty="0" sz="2200" spc="30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5">
                <a:solidFill>
                  <a:srgbClr val="282929"/>
                </a:solidFill>
                <a:latin typeface="Trebuchet MS"/>
                <a:cs typeface="Trebuchet MS"/>
              </a:rPr>
              <a:t>la </a:t>
            </a:r>
            <a:r>
              <a:rPr dirty="0" sz="2200" spc="110">
                <a:solidFill>
                  <a:srgbClr val="282929"/>
                </a:solidFill>
                <a:latin typeface="Trebuchet MS"/>
                <a:cs typeface="Trebuchet MS"/>
              </a:rPr>
              <a:t>analítica.</a:t>
            </a:r>
            <a:endParaRPr sz="2200">
              <a:latin typeface="Trebuchet MS"/>
              <a:cs typeface="Trebuchet MS"/>
            </a:endParaRPr>
          </a:p>
          <a:p>
            <a:pPr marL="12700">
              <a:lnSpc>
                <a:spcPts val="2445"/>
              </a:lnSpc>
              <a:spcBef>
                <a:spcPts val="1850"/>
              </a:spcBef>
            </a:pPr>
            <a:r>
              <a:rPr dirty="0" sz="2200" spc="-10" b="1">
                <a:solidFill>
                  <a:srgbClr val="282929"/>
                </a:solidFill>
                <a:latin typeface="Verdana"/>
                <a:cs typeface="Verdana"/>
              </a:rPr>
              <a:t>Entidad</a:t>
            </a:r>
            <a:r>
              <a:rPr dirty="0" sz="2200" spc="-12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-10" b="1">
                <a:solidFill>
                  <a:srgbClr val="282929"/>
                </a:solidFill>
                <a:latin typeface="Verdana"/>
                <a:cs typeface="Verdana"/>
              </a:rPr>
              <a:t>Central</a:t>
            </a:r>
            <a:endParaRPr sz="2200">
              <a:latin typeface="Verdana"/>
              <a:cs typeface="Verdana"/>
            </a:endParaRPr>
          </a:p>
          <a:p>
            <a:pPr marL="12700" marR="394970">
              <a:lnSpc>
                <a:spcPts val="2250"/>
              </a:lnSpc>
              <a:spcBef>
                <a:spcPts val="204"/>
              </a:spcBef>
            </a:pPr>
            <a:r>
              <a:rPr dirty="0" sz="2200" spc="-85" b="1">
                <a:solidFill>
                  <a:srgbClr val="282929"/>
                </a:solidFill>
                <a:latin typeface="Verdana"/>
                <a:cs typeface="Verdana"/>
              </a:rPr>
              <a:t>"Turno":</a:t>
            </a:r>
            <a:r>
              <a:rPr dirty="0" sz="2200" spc="6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200">
                <a:solidFill>
                  <a:srgbClr val="282929"/>
                </a:solidFill>
                <a:latin typeface="Trebuchet MS"/>
                <a:cs typeface="Trebuchet MS"/>
              </a:rPr>
              <a:t>Provee</a:t>
            </a:r>
            <a:r>
              <a:rPr dirty="0" sz="2200" spc="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60">
                <a:solidFill>
                  <a:srgbClr val="282929"/>
                </a:solidFill>
                <a:latin typeface="Trebuchet MS"/>
                <a:cs typeface="Trebuchet MS"/>
              </a:rPr>
              <a:t>los </a:t>
            </a:r>
            <a:r>
              <a:rPr dirty="0" sz="2200" spc="185">
                <a:solidFill>
                  <a:srgbClr val="282929"/>
                </a:solidFill>
                <a:latin typeface="Trebuchet MS"/>
                <a:cs typeface="Trebuchet MS"/>
              </a:rPr>
              <a:t>predictores</a:t>
            </a:r>
            <a:endParaRPr sz="2200">
              <a:latin typeface="Trebuchet MS"/>
              <a:cs typeface="Trebuchet MS"/>
            </a:endParaRPr>
          </a:p>
          <a:p>
            <a:pPr marL="12700" marR="1051560">
              <a:lnSpc>
                <a:spcPts val="2250"/>
              </a:lnSpc>
            </a:pPr>
            <a:r>
              <a:rPr dirty="0" sz="2200" spc="195">
                <a:solidFill>
                  <a:srgbClr val="282929"/>
                </a:solidFill>
                <a:latin typeface="Trebuchet MS"/>
                <a:cs typeface="Trebuchet MS"/>
              </a:rPr>
              <a:t>matemáticos</a:t>
            </a:r>
            <a:r>
              <a:rPr dirty="0" sz="2200" spc="2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5">
                <a:solidFill>
                  <a:srgbClr val="282929"/>
                </a:solidFill>
                <a:latin typeface="Trebuchet MS"/>
                <a:cs typeface="Trebuchet MS"/>
              </a:rPr>
              <a:t>al </a:t>
            </a:r>
            <a:r>
              <a:rPr dirty="0" sz="2200" spc="195">
                <a:solidFill>
                  <a:srgbClr val="282929"/>
                </a:solidFill>
                <a:latin typeface="Trebuchet MS"/>
                <a:cs typeface="Trebuchet MS"/>
              </a:rPr>
              <a:t>modelo</a:t>
            </a:r>
            <a:r>
              <a:rPr dirty="0" sz="2200" spc="2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04">
                <a:solidFill>
                  <a:srgbClr val="282929"/>
                </a:solidFill>
                <a:latin typeface="Trebuchet MS"/>
                <a:cs typeface="Trebuchet MS"/>
              </a:rPr>
              <a:t>(horas </a:t>
            </a:r>
            <a:r>
              <a:rPr dirty="0" sz="2200" spc="185">
                <a:solidFill>
                  <a:srgbClr val="282929"/>
                </a:solidFill>
                <a:latin typeface="Trebuchet MS"/>
                <a:cs typeface="Trebuchet MS"/>
              </a:rPr>
              <a:t>acumuladas,</a:t>
            </a:r>
            <a:endParaRPr sz="2200">
              <a:latin typeface="Trebuchet MS"/>
              <a:cs typeface="Trebuchet MS"/>
            </a:endParaRPr>
          </a:p>
          <a:p>
            <a:pPr marL="12700" marR="459740">
              <a:lnSpc>
                <a:spcPts val="2250"/>
              </a:lnSpc>
            </a:pPr>
            <a:r>
              <a:rPr dirty="0" sz="2200" spc="254">
                <a:solidFill>
                  <a:srgbClr val="282929"/>
                </a:solidFill>
                <a:latin typeface="Trebuchet MS"/>
                <a:cs typeface="Trebuchet MS"/>
              </a:rPr>
              <a:t>descansos,</a:t>
            </a:r>
            <a:r>
              <a:rPr dirty="0" sz="2200" spc="30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45">
                <a:solidFill>
                  <a:srgbClr val="282929"/>
                </a:solidFill>
                <a:latin typeface="Trebuchet MS"/>
                <a:cs typeface="Trebuchet MS"/>
              </a:rPr>
              <a:t>noches </a:t>
            </a:r>
            <a:r>
              <a:rPr dirty="0" sz="2200" spc="200">
                <a:solidFill>
                  <a:srgbClr val="282929"/>
                </a:solidFill>
                <a:latin typeface="Trebuchet MS"/>
                <a:cs typeface="Trebuchet MS"/>
              </a:rPr>
              <a:t>consecutivas).</a:t>
            </a:r>
            <a:endParaRPr sz="2200">
              <a:latin typeface="Trebuchet MS"/>
              <a:cs typeface="Trebuchet MS"/>
            </a:endParaRPr>
          </a:p>
          <a:p>
            <a:pPr marL="12700" marR="5080">
              <a:lnSpc>
                <a:spcPts val="2250"/>
              </a:lnSpc>
              <a:spcBef>
                <a:spcPts val="2250"/>
              </a:spcBef>
            </a:pPr>
            <a:r>
              <a:rPr dirty="0" sz="2200" spc="-10" b="1">
                <a:solidFill>
                  <a:srgbClr val="282929"/>
                </a:solidFill>
                <a:latin typeface="Verdana"/>
                <a:cs typeface="Verdana"/>
              </a:rPr>
              <a:t>Trazabilidad:</a:t>
            </a:r>
            <a:r>
              <a:rPr dirty="0" sz="2200" spc="-3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200" spc="175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200" spc="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20">
                <a:solidFill>
                  <a:srgbClr val="282929"/>
                </a:solidFill>
                <a:latin typeface="Trebuchet MS"/>
                <a:cs typeface="Trebuchet MS"/>
              </a:rPr>
              <a:t>tabla </a:t>
            </a:r>
            <a:r>
              <a:rPr dirty="0" sz="2200" spc="229">
                <a:solidFill>
                  <a:srgbClr val="282929"/>
                </a:solidFill>
                <a:latin typeface="Trebuchet MS"/>
                <a:cs typeface="Trebuchet MS"/>
              </a:rPr>
              <a:t>"Reasignación"</a:t>
            </a:r>
            <a:endParaRPr sz="2200">
              <a:latin typeface="Trebuchet MS"/>
              <a:cs typeface="Trebuchet MS"/>
            </a:endParaRPr>
          </a:p>
          <a:p>
            <a:pPr marL="12700" marR="718820">
              <a:lnSpc>
                <a:spcPts val="2250"/>
              </a:lnSpc>
            </a:pPr>
            <a:r>
              <a:rPr dirty="0" sz="2200" spc="185">
                <a:solidFill>
                  <a:srgbClr val="282929"/>
                </a:solidFill>
                <a:latin typeface="Trebuchet MS"/>
                <a:cs typeface="Trebuchet MS"/>
              </a:rPr>
              <a:t>registra</a:t>
            </a:r>
            <a:r>
              <a:rPr dirty="0" sz="2200" spc="2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8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200" spc="2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40">
                <a:solidFill>
                  <a:srgbClr val="282929"/>
                </a:solidFill>
                <a:latin typeface="Trebuchet MS"/>
                <a:cs typeface="Trebuchet MS"/>
              </a:rPr>
              <a:t>forma </a:t>
            </a:r>
            <a:r>
              <a:rPr dirty="0" sz="2200" spc="165">
                <a:solidFill>
                  <a:srgbClr val="282929"/>
                </a:solidFill>
                <a:latin typeface="Trebuchet MS"/>
                <a:cs typeface="Trebuchet MS"/>
              </a:rPr>
              <a:t>auditable</a:t>
            </a:r>
            <a:r>
              <a:rPr dirty="0" sz="2200" spc="2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60">
                <a:solidFill>
                  <a:srgbClr val="282929"/>
                </a:solidFill>
                <a:latin typeface="Trebuchet MS"/>
                <a:cs typeface="Trebuchet MS"/>
              </a:rPr>
              <a:t>quién</a:t>
            </a:r>
            <a:endParaRPr sz="2200">
              <a:latin typeface="Trebuchet MS"/>
              <a:cs typeface="Trebuchet MS"/>
            </a:endParaRPr>
          </a:p>
          <a:p>
            <a:pPr marL="12700" marR="394970">
              <a:lnSpc>
                <a:spcPts val="2250"/>
              </a:lnSpc>
            </a:pPr>
            <a:r>
              <a:rPr dirty="0" sz="2200" spc="145">
                <a:solidFill>
                  <a:srgbClr val="282929"/>
                </a:solidFill>
                <a:latin typeface="Trebuchet MS"/>
                <a:cs typeface="Trebuchet MS"/>
              </a:rPr>
              <a:t>ejecutó</a:t>
            </a:r>
            <a:r>
              <a:rPr dirty="0" sz="2200" spc="30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>
                <a:solidFill>
                  <a:srgbClr val="282929"/>
                </a:solidFill>
                <a:latin typeface="Trebuchet MS"/>
                <a:cs typeface="Trebuchet MS"/>
              </a:rPr>
              <a:t>el</a:t>
            </a:r>
            <a:r>
              <a:rPr dirty="0" sz="2200" spc="30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200">
                <a:solidFill>
                  <a:srgbClr val="282929"/>
                </a:solidFill>
                <a:latin typeface="Trebuchet MS"/>
                <a:cs typeface="Trebuchet MS"/>
              </a:rPr>
              <a:t>cambio</a:t>
            </a:r>
            <a:r>
              <a:rPr dirty="0" sz="2200" spc="30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80">
                <a:solidFill>
                  <a:srgbClr val="282929"/>
                </a:solidFill>
                <a:latin typeface="Trebuchet MS"/>
                <a:cs typeface="Trebuchet MS"/>
              </a:rPr>
              <a:t>y </a:t>
            </a:r>
            <a:r>
              <a:rPr dirty="0" sz="2200" spc="125">
                <a:solidFill>
                  <a:srgbClr val="282929"/>
                </a:solidFill>
                <a:latin typeface="Trebuchet MS"/>
                <a:cs typeface="Trebuchet MS"/>
              </a:rPr>
              <a:t>bajo</a:t>
            </a:r>
            <a:r>
              <a:rPr dirty="0" sz="2200" spc="2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85">
                <a:solidFill>
                  <a:srgbClr val="282929"/>
                </a:solidFill>
                <a:latin typeface="Trebuchet MS"/>
                <a:cs typeface="Trebuchet MS"/>
              </a:rPr>
              <a:t>qué</a:t>
            </a:r>
            <a:r>
              <a:rPr dirty="0" sz="2200" spc="2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200" spc="155">
                <a:solidFill>
                  <a:srgbClr val="282929"/>
                </a:solidFill>
                <a:latin typeface="Trebuchet MS"/>
                <a:cs typeface="Trebuchet MS"/>
              </a:rPr>
              <a:t>protocolo.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14724"/>
            <a:ext cx="3747770" cy="972819"/>
          </a:xfrm>
          <a:custGeom>
            <a:avLst/>
            <a:gdLst/>
            <a:ahLst/>
            <a:cxnLst/>
            <a:rect l="l" t="t" r="r" b="b"/>
            <a:pathLst>
              <a:path w="3747770" h="972820">
                <a:moveTo>
                  <a:pt x="0" y="34476"/>
                </a:moveTo>
                <a:lnTo>
                  <a:pt x="173206" y="19589"/>
                </a:lnTo>
                <a:lnTo>
                  <a:pt x="273008" y="12844"/>
                </a:lnTo>
                <a:lnTo>
                  <a:pt x="372800" y="7472"/>
                </a:lnTo>
                <a:lnTo>
                  <a:pt x="472561" y="3513"/>
                </a:lnTo>
                <a:lnTo>
                  <a:pt x="572268" y="1009"/>
                </a:lnTo>
                <a:lnTo>
                  <a:pt x="671899" y="0"/>
                </a:lnTo>
                <a:lnTo>
                  <a:pt x="771430" y="526"/>
                </a:lnTo>
                <a:lnTo>
                  <a:pt x="870841" y="2629"/>
                </a:lnTo>
                <a:lnTo>
                  <a:pt x="970108" y="6348"/>
                </a:lnTo>
                <a:lnTo>
                  <a:pt x="1069209" y="11726"/>
                </a:lnTo>
                <a:lnTo>
                  <a:pt x="1168121" y="18802"/>
                </a:lnTo>
                <a:lnTo>
                  <a:pt x="1266822" y="27618"/>
                </a:lnTo>
                <a:lnTo>
                  <a:pt x="1365290" y="38214"/>
                </a:lnTo>
                <a:lnTo>
                  <a:pt x="1463503" y="50630"/>
                </a:lnTo>
                <a:lnTo>
                  <a:pt x="1512506" y="57534"/>
                </a:lnTo>
                <a:lnTo>
                  <a:pt x="1561437" y="64908"/>
                </a:lnTo>
                <a:lnTo>
                  <a:pt x="1610292" y="72757"/>
                </a:lnTo>
                <a:lnTo>
                  <a:pt x="1659070" y="81088"/>
                </a:lnTo>
                <a:lnTo>
                  <a:pt x="1707767" y="89904"/>
                </a:lnTo>
                <a:lnTo>
                  <a:pt x="1756380" y="99210"/>
                </a:lnTo>
                <a:lnTo>
                  <a:pt x="1804907" y="109013"/>
                </a:lnTo>
                <a:lnTo>
                  <a:pt x="1853345" y="119317"/>
                </a:lnTo>
                <a:lnTo>
                  <a:pt x="1901691" y="130127"/>
                </a:lnTo>
                <a:lnTo>
                  <a:pt x="1949942" y="141448"/>
                </a:lnTo>
                <a:lnTo>
                  <a:pt x="1998096" y="153285"/>
                </a:lnTo>
                <a:lnTo>
                  <a:pt x="2046149" y="165644"/>
                </a:lnTo>
                <a:lnTo>
                  <a:pt x="2094099" y="178529"/>
                </a:lnTo>
                <a:lnTo>
                  <a:pt x="2141943" y="191946"/>
                </a:lnTo>
                <a:lnTo>
                  <a:pt x="2189678" y="205899"/>
                </a:lnTo>
                <a:lnTo>
                  <a:pt x="2237302" y="220394"/>
                </a:lnTo>
                <a:lnTo>
                  <a:pt x="2284811" y="235436"/>
                </a:lnTo>
                <a:lnTo>
                  <a:pt x="2332695" y="251189"/>
                </a:lnTo>
                <a:lnTo>
                  <a:pt x="2380383" y="267474"/>
                </a:lnTo>
                <a:lnTo>
                  <a:pt x="2427875" y="284282"/>
                </a:lnTo>
                <a:lnTo>
                  <a:pt x="2475172" y="301602"/>
                </a:lnTo>
                <a:lnTo>
                  <a:pt x="2522275" y="319426"/>
                </a:lnTo>
                <a:lnTo>
                  <a:pt x="2569184" y="337744"/>
                </a:lnTo>
                <a:lnTo>
                  <a:pt x="2615899" y="356546"/>
                </a:lnTo>
                <a:lnTo>
                  <a:pt x="2662422" y="375823"/>
                </a:lnTo>
                <a:lnTo>
                  <a:pt x="2708752" y="395564"/>
                </a:lnTo>
                <a:lnTo>
                  <a:pt x="2754892" y="415761"/>
                </a:lnTo>
                <a:lnTo>
                  <a:pt x="2800840" y="436404"/>
                </a:lnTo>
                <a:lnTo>
                  <a:pt x="2846599" y="457483"/>
                </a:lnTo>
                <a:lnTo>
                  <a:pt x="2892167" y="478988"/>
                </a:lnTo>
                <a:lnTo>
                  <a:pt x="2937547" y="500910"/>
                </a:lnTo>
                <a:lnTo>
                  <a:pt x="2982738" y="523240"/>
                </a:lnTo>
                <a:lnTo>
                  <a:pt x="3027742" y="545968"/>
                </a:lnTo>
                <a:lnTo>
                  <a:pt x="3072559" y="569083"/>
                </a:lnTo>
                <a:lnTo>
                  <a:pt x="3117189" y="592578"/>
                </a:lnTo>
                <a:lnTo>
                  <a:pt x="3161633" y="616441"/>
                </a:lnTo>
                <a:lnTo>
                  <a:pt x="3205892" y="640663"/>
                </a:lnTo>
                <a:lnTo>
                  <a:pt x="3249966" y="665236"/>
                </a:lnTo>
                <a:lnTo>
                  <a:pt x="3293856" y="690148"/>
                </a:lnTo>
                <a:lnTo>
                  <a:pt x="3337563" y="715391"/>
                </a:lnTo>
                <a:lnTo>
                  <a:pt x="3381087" y="740955"/>
                </a:lnTo>
                <a:lnTo>
                  <a:pt x="3424429" y="766830"/>
                </a:lnTo>
                <a:lnTo>
                  <a:pt x="3467589" y="793008"/>
                </a:lnTo>
                <a:lnTo>
                  <a:pt x="3510569" y="819477"/>
                </a:lnTo>
                <a:lnTo>
                  <a:pt x="3553367" y="846229"/>
                </a:lnTo>
                <a:lnTo>
                  <a:pt x="3595987" y="873253"/>
                </a:lnTo>
                <a:lnTo>
                  <a:pt x="3638427" y="900541"/>
                </a:lnTo>
                <a:lnTo>
                  <a:pt x="3680689" y="928083"/>
                </a:lnTo>
                <a:lnTo>
                  <a:pt x="3722772" y="955869"/>
                </a:lnTo>
                <a:lnTo>
                  <a:pt x="3747297" y="972276"/>
                </a:lnTo>
                <a:lnTo>
                  <a:pt x="0" y="972276"/>
                </a:lnTo>
                <a:lnTo>
                  <a:pt x="0" y="35836"/>
                </a:lnTo>
                <a:lnTo>
                  <a:pt x="0" y="34810"/>
                </a:lnTo>
                <a:lnTo>
                  <a:pt x="0" y="34476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93080" rIns="0" bIns="0" rtlCol="0" vert="horz">
            <a:spAutoFit/>
          </a:bodyPr>
          <a:lstStyle/>
          <a:p>
            <a:pPr marL="2903855" marR="5080" indent="3002280">
              <a:lnSpc>
                <a:spcPts val="6830"/>
              </a:lnSpc>
            </a:pPr>
            <a:r>
              <a:rPr dirty="0" spc="585"/>
              <a:t>PIPELINE</a:t>
            </a:r>
            <a:r>
              <a:rPr dirty="0" spc="-240"/>
              <a:t> </a:t>
            </a:r>
            <a:r>
              <a:rPr dirty="0" spc="1245"/>
              <a:t>ML</a:t>
            </a:r>
            <a:r>
              <a:rPr dirty="0" spc="-235"/>
              <a:t> </a:t>
            </a:r>
            <a:r>
              <a:rPr dirty="0" spc="780"/>
              <a:t>Y </a:t>
            </a:r>
            <a:r>
              <a:rPr dirty="0" spc="844"/>
              <a:t>CUMPLIMIENTO</a:t>
            </a:r>
            <a:r>
              <a:rPr dirty="0" spc="-215"/>
              <a:t> </a:t>
            </a:r>
            <a:r>
              <a:rPr dirty="0" spc="844"/>
              <a:t>NORMATIVO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5386" y="2959156"/>
            <a:ext cx="114300" cy="1142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5386" y="4902256"/>
            <a:ext cx="114300" cy="1142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5386" y="6845356"/>
            <a:ext cx="114300" cy="1142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32277" y="2703245"/>
            <a:ext cx="7280909" cy="5854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4475">
              <a:lnSpc>
                <a:spcPct val="113799"/>
              </a:lnSpc>
              <a:spcBef>
                <a:spcPts val="100"/>
              </a:spcBef>
            </a:pPr>
            <a:r>
              <a:rPr dirty="0" sz="2800" spc="-215" b="1">
                <a:solidFill>
                  <a:srgbClr val="282929"/>
                </a:solidFill>
                <a:latin typeface="Verdana"/>
                <a:cs typeface="Verdana"/>
              </a:rPr>
              <a:t>El</a:t>
            </a:r>
            <a:r>
              <a:rPr dirty="0" sz="2800" spc="-28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204" b="1">
                <a:solidFill>
                  <a:srgbClr val="282929"/>
                </a:solidFill>
                <a:latin typeface="Verdana"/>
                <a:cs typeface="Verdana"/>
              </a:rPr>
              <a:t>Desafío</a:t>
            </a:r>
            <a:r>
              <a:rPr dirty="0" sz="2800" spc="-28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240" b="1">
                <a:solidFill>
                  <a:srgbClr val="282929"/>
                </a:solidFill>
                <a:latin typeface="Verdana"/>
                <a:cs typeface="Verdana"/>
              </a:rPr>
              <a:t>Legal:</a:t>
            </a:r>
            <a:r>
              <a:rPr dirty="0" sz="2800" spc="-1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50">
                <a:solidFill>
                  <a:srgbClr val="282929"/>
                </a:solidFill>
                <a:latin typeface="Trebuchet MS"/>
                <a:cs typeface="Trebuchet MS"/>
              </a:rPr>
              <a:t>Imposibilidad</a:t>
            </a:r>
            <a:r>
              <a:rPr dirty="0" sz="28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282929"/>
                </a:solidFill>
                <a:latin typeface="Trebuchet MS"/>
                <a:cs typeface="Trebuchet MS"/>
              </a:rPr>
              <a:t>usar </a:t>
            </a:r>
            <a:r>
              <a:rPr dirty="0" sz="2800" spc="45">
                <a:solidFill>
                  <a:srgbClr val="282929"/>
                </a:solidFill>
                <a:latin typeface="Trebuchet MS"/>
                <a:cs typeface="Trebuchet MS"/>
              </a:rPr>
              <a:t>historiales</a:t>
            </a:r>
            <a:r>
              <a:rPr dirty="0" sz="2800" spc="-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0">
                <a:solidFill>
                  <a:srgbClr val="282929"/>
                </a:solidFill>
                <a:latin typeface="Trebuchet MS"/>
                <a:cs typeface="Trebuchet MS"/>
              </a:rPr>
              <a:t>médicos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5">
                <a:solidFill>
                  <a:srgbClr val="282929"/>
                </a:solidFill>
                <a:latin typeface="Trebuchet MS"/>
                <a:cs typeface="Trebuchet MS"/>
              </a:rPr>
              <a:t>reales</a:t>
            </a:r>
            <a:r>
              <a:rPr dirty="0" sz="2800" spc="-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debido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a</a:t>
            </a:r>
            <a:r>
              <a:rPr dirty="0" sz="2800" spc="-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10">
                <a:solidFill>
                  <a:srgbClr val="282929"/>
                </a:solidFill>
                <a:latin typeface="Trebuchet MS"/>
                <a:cs typeface="Trebuchet MS"/>
              </a:rPr>
              <a:t>Ley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19.628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282929"/>
                </a:solidFill>
                <a:latin typeface="Trebuchet MS"/>
                <a:cs typeface="Trebuchet MS"/>
              </a:rPr>
              <a:t>Privacidad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0">
                <a:solidFill>
                  <a:srgbClr val="282929"/>
                </a:solidFill>
                <a:latin typeface="Trebuchet MS"/>
                <a:cs typeface="Trebuchet MS"/>
              </a:rPr>
              <a:t>Datos.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5080">
              <a:lnSpc>
                <a:spcPct val="113799"/>
              </a:lnSpc>
            </a:pPr>
            <a:r>
              <a:rPr dirty="0" sz="2800" spc="-210" b="1">
                <a:solidFill>
                  <a:srgbClr val="282929"/>
                </a:solidFill>
                <a:latin typeface="Verdana"/>
                <a:cs typeface="Verdana"/>
              </a:rPr>
              <a:t>Generación</a:t>
            </a:r>
            <a:r>
              <a:rPr dirty="0" sz="2800" spc="-2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210" b="1">
                <a:solidFill>
                  <a:srgbClr val="282929"/>
                </a:solidFill>
                <a:latin typeface="Verdana"/>
                <a:cs typeface="Verdana"/>
              </a:rPr>
              <a:t>Sintética:</a:t>
            </a:r>
            <a:r>
              <a:rPr dirty="0" sz="2800" spc="-12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75">
                <a:solidFill>
                  <a:srgbClr val="282929"/>
                </a:solidFill>
                <a:latin typeface="Trebuchet MS"/>
                <a:cs typeface="Trebuchet MS"/>
              </a:rPr>
              <a:t>Script</a:t>
            </a:r>
            <a:r>
              <a:rPr dirty="0" sz="2800" spc="-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800" spc="-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95">
                <a:solidFill>
                  <a:srgbClr val="282929"/>
                </a:solidFill>
                <a:latin typeface="Trebuchet MS"/>
                <a:cs typeface="Trebuchet MS"/>
              </a:rPr>
              <a:t>Python </a:t>
            </a:r>
            <a:r>
              <a:rPr dirty="0" sz="2800" spc="90">
                <a:solidFill>
                  <a:srgbClr val="282929"/>
                </a:solidFill>
                <a:latin typeface="Trebuchet MS"/>
                <a:cs typeface="Trebuchet MS"/>
              </a:rPr>
              <a:t>(Pandas/NumPy)</a:t>
            </a:r>
            <a:r>
              <a:rPr dirty="0" sz="28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que</a:t>
            </a:r>
            <a:r>
              <a:rPr dirty="0" sz="28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replica</a:t>
            </a:r>
            <a:r>
              <a:rPr dirty="0" sz="2800" spc="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0">
                <a:solidFill>
                  <a:srgbClr val="282929"/>
                </a:solidFill>
                <a:latin typeface="Trebuchet MS"/>
                <a:cs typeface="Trebuchet MS"/>
              </a:rPr>
              <a:t>distribuciones </a:t>
            </a:r>
            <a:r>
              <a:rPr dirty="0" sz="2800" spc="90">
                <a:solidFill>
                  <a:srgbClr val="282929"/>
                </a:solidFill>
                <a:latin typeface="Trebuchet MS"/>
                <a:cs typeface="Trebuchet MS"/>
              </a:rPr>
              <a:t>estadísticas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5">
                <a:solidFill>
                  <a:srgbClr val="282929"/>
                </a:solidFill>
                <a:latin typeface="Trebuchet MS"/>
                <a:cs typeface="Trebuchet MS"/>
              </a:rPr>
              <a:t>reales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2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-10">
                <a:solidFill>
                  <a:srgbClr val="282929"/>
                </a:solidFill>
                <a:latin typeface="Trebuchet MS"/>
                <a:cs typeface="Trebuchet MS"/>
              </a:rPr>
              <a:t>fatiga.</a:t>
            </a:r>
            <a:endParaRPr sz="2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2800">
              <a:latin typeface="Trebuchet MS"/>
              <a:cs typeface="Trebuchet MS"/>
            </a:endParaRPr>
          </a:p>
          <a:p>
            <a:pPr marL="12700" marR="481330">
              <a:lnSpc>
                <a:spcPct val="113799"/>
              </a:lnSpc>
            </a:pPr>
            <a:r>
              <a:rPr dirty="0" sz="2800" spc="-190" b="1">
                <a:solidFill>
                  <a:srgbClr val="282929"/>
                </a:solidFill>
                <a:latin typeface="Verdana"/>
                <a:cs typeface="Verdana"/>
              </a:rPr>
              <a:t>Mitigación</a:t>
            </a:r>
            <a:r>
              <a:rPr dirty="0" sz="2800" spc="-2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210" b="1">
                <a:solidFill>
                  <a:srgbClr val="282929"/>
                </a:solidFill>
                <a:latin typeface="Verdana"/>
                <a:cs typeface="Verdana"/>
              </a:rPr>
              <a:t>de</a:t>
            </a:r>
            <a:r>
              <a:rPr dirty="0" sz="2800" spc="-2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-190" b="1">
                <a:solidFill>
                  <a:srgbClr val="282929"/>
                </a:solidFill>
                <a:latin typeface="Verdana"/>
                <a:cs typeface="Verdana"/>
              </a:rPr>
              <a:t>Sesgos:</a:t>
            </a:r>
            <a:r>
              <a:rPr dirty="0" sz="2800" spc="-13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Balanceo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algorítmico</a:t>
            </a:r>
            <a:r>
              <a:rPr dirty="0" sz="28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5">
                <a:solidFill>
                  <a:srgbClr val="282929"/>
                </a:solidFill>
                <a:latin typeface="Trebuchet MS"/>
                <a:cs typeface="Trebuchet MS"/>
              </a:rPr>
              <a:t>para</a:t>
            </a:r>
            <a:r>
              <a:rPr dirty="0" sz="28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14">
                <a:solidFill>
                  <a:srgbClr val="282929"/>
                </a:solidFill>
                <a:latin typeface="Trebuchet MS"/>
                <a:cs typeface="Trebuchet MS"/>
              </a:rPr>
              <a:t>asegurar</a:t>
            </a:r>
            <a:r>
              <a:rPr dirty="0" sz="28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que</a:t>
            </a:r>
            <a:r>
              <a:rPr dirty="0" sz="2800" spc="1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>
                <a:solidFill>
                  <a:srgbClr val="282929"/>
                </a:solidFill>
                <a:latin typeface="Trebuchet MS"/>
                <a:cs typeface="Trebuchet MS"/>
              </a:rPr>
              <a:t>el</a:t>
            </a:r>
            <a:r>
              <a:rPr dirty="0" sz="2800" spc="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70">
                <a:solidFill>
                  <a:srgbClr val="282929"/>
                </a:solidFill>
                <a:latin typeface="Trebuchet MS"/>
                <a:cs typeface="Trebuchet MS"/>
              </a:rPr>
              <a:t>modelo </a:t>
            </a:r>
            <a:r>
              <a:rPr dirty="0" sz="2800" spc="95">
                <a:solidFill>
                  <a:srgbClr val="282929"/>
                </a:solidFill>
                <a:latin typeface="Trebuchet MS"/>
                <a:cs typeface="Trebuchet MS"/>
              </a:rPr>
              <a:t>aprenda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a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45">
                <a:solidFill>
                  <a:srgbClr val="282929"/>
                </a:solidFill>
                <a:latin typeface="Trebuchet MS"/>
                <a:cs typeface="Trebuchet MS"/>
              </a:rPr>
              <a:t>detectar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210">
                <a:solidFill>
                  <a:srgbClr val="282929"/>
                </a:solidFill>
                <a:latin typeface="Trebuchet MS"/>
                <a:cs typeface="Trebuchet MS"/>
              </a:rPr>
              <a:t>casos</a:t>
            </a:r>
            <a:r>
              <a:rPr dirty="0" sz="280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50">
                <a:solidFill>
                  <a:srgbClr val="282929"/>
                </a:solidFill>
                <a:latin typeface="Trebuchet MS"/>
                <a:cs typeface="Trebuchet MS"/>
              </a:rPr>
              <a:t>críticos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65">
                <a:solidFill>
                  <a:srgbClr val="282929"/>
                </a:solidFill>
                <a:latin typeface="Trebuchet MS"/>
                <a:cs typeface="Trebuchet MS"/>
              </a:rPr>
              <a:t>sin </a:t>
            </a:r>
            <a:r>
              <a:rPr dirty="0" sz="2800" spc="85">
                <a:solidFill>
                  <a:srgbClr val="282929"/>
                </a:solidFill>
                <a:latin typeface="Trebuchet MS"/>
                <a:cs typeface="Trebuchet MS"/>
              </a:rPr>
              <a:t>sobreajustarse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a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100">
                <a:solidFill>
                  <a:srgbClr val="282929"/>
                </a:solidFill>
                <a:latin typeface="Trebuchet MS"/>
                <a:cs typeface="Trebuchet MS"/>
              </a:rPr>
              <a:t>los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210">
                <a:solidFill>
                  <a:srgbClr val="282929"/>
                </a:solidFill>
                <a:latin typeface="Trebuchet MS"/>
                <a:cs typeface="Trebuchet MS"/>
              </a:rPr>
              <a:t>casos</a:t>
            </a:r>
            <a:r>
              <a:rPr dirty="0" sz="280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800" spc="35">
                <a:solidFill>
                  <a:srgbClr val="282929"/>
                </a:solidFill>
                <a:latin typeface="Trebuchet MS"/>
                <a:cs typeface="Trebuchet MS"/>
              </a:rPr>
              <a:t>normales.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556113" y="9516359"/>
            <a:ext cx="3731895" cy="770890"/>
          </a:xfrm>
          <a:custGeom>
            <a:avLst/>
            <a:gdLst/>
            <a:ahLst/>
            <a:cxnLst/>
            <a:rect l="l" t="t" r="r" b="b"/>
            <a:pathLst>
              <a:path w="3731894" h="770890">
                <a:moveTo>
                  <a:pt x="2429811" y="49826"/>
                </a:moveTo>
                <a:lnTo>
                  <a:pt x="2498433" y="42189"/>
                </a:lnTo>
                <a:lnTo>
                  <a:pt x="2648042" y="27665"/>
                </a:lnTo>
                <a:lnTo>
                  <a:pt x="2797730" y="16047"/>
                </a:lnTo>
                <a:lnTo>
                  <a:pt x="2899268" y="9884"/>
                </a:lnTo>
                <a:lnTo>
                  <a:pt x="2899069" y="9906"/>
                </a:lnTo>
                <a:lnTo>
                  <a:pt x="2947424" y="7472"/>
                </a:lnTo>
                <a:lnTo>
                  <a:pt x="3047185" y="3513"/>
                </a:lnTo>
                <a:lnTo>
                  <a:pt x="3146892" y="1009"/>
                </a:lnTo>
                <a:lnTo>
                  <a:pt x="3246523" y="0"/>
                </a:lnTo>
                <a:lnTo>
                  <a:pt x="3346054" y="526"/>
                </a:lnTo>
                <a:lnTo>
                  <a:pt x="3445465" y="2629"/>
                </a:lnTo>
                <a:lnTo>
                  <a:pt x="3544732" y="6348"/>
                </a:lnTo>
                <a:lnTo>
                  <a:pt x="3643833" y="11726"/>
                </a:lnTo>
                <a:lnTo>
                  <a:pt x="3731884" y="17978"/>
                </a:lnTo>
                <a:lnTo>
                  <a:pt x="3731884" y="770640"/>
                </a:lnTo>
                <a:lnTo>
                  <a:pt x="0" y="770640"/>
                </a:lnTo>
                <a:lnTo>
                  <a:pt x="25430" y="751851"/>
                </a:lnTo>
                <a:lnTo>
                  <a:pt x="65371" y="723894"/>
                </a:lnTo>
                <a:lnTo>
                  <a:pt x="106048" y="696899"/>
                </a:lnTo>
                <a:lnTo>
                  <a:pt x="147426" y="670839"/>
                </a:lnTo>
                <a:lnTo>
                  <a:pt x="189472" y="645688"/>
                </a:lnTo>
                <a:lnTo>
                  <a:pt x="232154" y="621420"/>
                </a:lnTo>
                <a:lnTo>
                  <a:pt x="275438" y="598009"/>
                </a:lnTo>
                <a:lnTo>
                  <a:pt x="319291" y="575428"/>
                </a:lnTo>
                <a:lnTo>
                  <a:pt x="363680" y="553651"/>
                </a:lnTo>
                <a:lnTo>
                  <a:pt x="408573" y="532653"/>
                </a:lnTo>
                <a:lnTo>
                  <a:pt x="453935" y="512406"/>
                </a:lnTo>
                <a:lnTo>
                  <a:pt x="499734" y="492884"/>
                </a:lnTo>
                <a:lnTo>
                  <a:pt x="545937" y="474062"/>
                </a:lnTo>
                <a:lnTo>
                  <a:pt x="592511" y="455913"/>
                </a:lnTo>
                <a:lnTo>
                  <a:pt x="639423" y="438411"/>
                </a:lnTo>
                <a:lnTo>
                  <a:pt x="686639" y="421529"/>
                </a:lnTo>
                <a:lnTo>
                  <a:pt x="734127" y="405242"/>
                </a:lnTo>
                <a:lnTo>
                  <a:pt x="781853" y="389522"/>
                </a:lnTo>
                <a:lnTo>
                  <a:pt x="829785" y="374345"/>
                </a:lnTo>
                <a:lnTo>
                  <a:pt x="877889" y="359683"/>
                </a:lnTo>
                <a:lnTo>
                  <a:pt x="974482" y="331801"/>
                </a:lnTo>
                <a:lnTo>
                  <a:pt x="1071368" y="305667"/>
                </a:lnTo>
                <a:lnTo>
                  <a:pt x="1216666" y="269284"/>
                </a:lnTo>
                <a:lnTo>
                  <a:pt x="1410954" y="224412"/>
                </a:lnTo>
                <a:lnTo>
                  <a:pt x="1606708" y="182651"/>
                </a:lnTo>
                <a:lnTo>
                  <a:pt x="1803547" y="144346"/>
                </a:lnTo>
                <a:lnTo>
                  <a:pt x="1951779" y="118081"/>
                </a:lnTo>
                <a:lnTo>
                  <a:pt x="2100446" y="94079"/>
                </a:lnTo>
                <a:lnTo>
                  <a:pt x="2249470" y="72479"/>
                </a:lnTo>
                <a:lnTo>
                  <a:pt x="2398776" y="53418"/>
                </a:lnTo>
                <a:lnTo>
                  <a:pt x="2429811" y="49826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4378960" cy="826769"/>
          </a:xfrm>
          <a:custGeom>
            <a:avLst/>
            <a:gdLst/>
            <a:ahLst/>
            <a:cxnLst/>
            <a:rect l="l" t="t" r="r" b="b"/>
            <a:pathLst>
              <a:path w="4378960" h="826769">
                <a:moveTo>
                  <a:pt x="0" y="0"/>
                </a:moveTo>
                <a:lnTo>
                  <a:pt x="4378861" y="0"/>
                </a:lnTo>
                <a:lnTo>
                  <a:pt x="4357243" y="24718"/>
                </a:lnTo>
                <a:lnTo>
                  <a:pt x="4324704" y="60488"/>
                </a:lnTo>
                <a:lnTo>
                  <a:pt x="4291451" y="95643"/>
                </a:lnTo>
                <a:lnTo>
                  <a:pt x="4257503" y="130164"/>
                </a:lnTo>
                <a:lnTo>
                  <a:pt x="4222876" y="164037"/>
                </a:lnTo>
                <a:lnTo>
                  <a:pt x="4187589" y="197242"/>
                </a:lnTo>
                <a:lnTo>
                  <a:pt x="4151659" y="229765"/>
                </a:lnTo>
                <a:lnTo>
                  <a:pt x="4115104" y="261588"/>
                </a:lnTo>
                <a:lnTo>
                  <a:pt x="4077941" y="292695"/>
                </a:lnTo>
                <a:lnTo>
                  <a:pt x="4040188" y="323068"/>
                </a:lnTo>
                <a:lnTo>
                  <a:pt x="4001863" y="352691"/>
                </a:lnTo>
                <a:lnTo>
                  <a:pt x="3962982" y="381548"/>
                </a:lnTo>
                <a:lnTo>
                  <a:pt x="3923565" y="409621"/>
                </a:lnTo>
                <a:lnTo>
                  <a:pt x="3883628" y="436894"/>
                </a:lnTo>
                <a:lnTo>
                  <a:pt x="3843189" y="463350"/>
                </a:lnTo>
                <a:lnTo>
                  <a:pt x="3802266" y="488973"/>
                </a:lnTo>
                <a:lnTo>
                  <a:pt x="3760876" y="513745"/>
                </a:lnTo>
                <a:lnTo>
                  <a:pt x="3719037" y="537650"/>
                </a:lnTo>
                <a:lnTo>
                  <a:pt x="3676767" y="560671"/>
                </a:lnTo>
                <a:lnTo>
                  <a:pt x="3634083" y="582792"/>
                </a:lnTo>
                <a:lnTo>
                  <a:pt x="3591002" y="603995"/>
                </a:lnTo>
                <a:lnTo>
                  <a:pt x="3547398" y="624329"/>
                </a:lnTo>
                <a:lnTo>
                  <a:pt x="3503724" y="643583"/>
                </a:lnTo>
                <a:lnTo>
                  <a:pt x="3459561" y="661934"/>
                </a:lnTo>
                <a:lnTo>
                  <a:pt x="3415072" y="679300"/>
                </a:lnTo>
                <a:lnTo>
                  <a:pt x="3370275" y="695666"/>
                </a:lnTo>
                <a:lnTo>
                  <a:pt x="3325188" y="711014"/>
                </a:lnTo>
                <a:lnTo>
                  <a:pt x="3279828" y="725328"/>
                </a:lnTo>
                <a:lnTo>
                  <a:pt x="3234213" y="738590"/>
                </a:lnTo>
                <a:lnTo>
                  <a:pt x="3188361" y="750785"/>
                </a:lnTo>
                <a:lnTo>
                  <a:pt x="3142288" y="761894"/>
                </a:lnTo>
                <a:lnTo>
                  <a:pt x="3096013" y="771903"/>
                </a:lnTo>
                <a:lnTo>
                  <a:pt x="3049554" y="780793"/>
                </a:lnTo>
                <a:lnTo>
                  <a:pt x="3002927" y="788549"/>
                </a:lnTo>
                <a:lnTo>
                  <a:pt x="2956151" y="795152"/>
                </a:lnTo>
                <a:lnTo>
                  <a:pt x="2909243" y="800588"/>
                </a:lnTo>
                <a:lnTo>
                  <a:pt x="2862221" y="804838"/>
                </a:lnTo>
                <a:lnTo>
                  <a:pt x="2815103" y="807887"/>
                </a:lnTo>
                <a:lnTo>
                  <a:pt x="2562466" y="818558"/>
                </a:lnTo>
                <a:lnTo>
                  <a:pt x="2257819" y="825479"/>
                </a:lnTo>
                <a:lnTo>
                  <a:pt x="1951868" y="826678"/>
                </a:lnTo>
                <a:lnTo>
                  <a:pt x="1542477" y="820645"/>
                </a:lnTo>
                <a:lnTo>
                  <a:pt x="978184" y="801079"/>
                </a:lnTo>
                <a:lnTo>
                  <a:pt x="0" y="748528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210" y="2135884"/>
            <a:ext cx="13925549" cy="7839074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763" rIns="0" bIns="0" rtlCol="0" vert="horz">
            <a:spAutoFit/>
          </a:bodyPr>
          <a:lstStyle/>
          <a:p>
            <a:pPr marL="4791075" marR="5080" indent="1640205">
              <a:lnSpc>
                <a:spcPts val="6830"/>
              </a:lnSpc>
            </a:pPr>
            <a:r>
              <a:rPr dirty="0" spc="850"/>
              <a:t>MOCKUPS</a:t>
            </a:r>
            <a:r>
              <a:rPr dirty="0" spc="-225"/>
              <a:t> </a:t>
            </a:r>
            <a:r>
              <a:rPr dirty="0" spc="780"/>
              <a:t>Y </a:t>
            </a:r>
            <a:r>
              <a:rPr dirty="0" spc="775"/>
              <a:t>DASHBOARD</a:t>
            </a:r>
            <a:r>
              <a:rPr dirty="0" spc="-250"/>
              <a:t> </a:t>
            </a:r>
            <a:r>
              <a:rPr dirty="0" spc="185"/>
              <a:t>(UI/UX)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1094" y="2995612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81094" y="5462587"/>
            <a:ext cx="76200" cy="76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590594" y="2795574"/>
            <a:ext cx="2740660" cy="425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895">
              <a:lnSpc>
                <a:spcPct val="115599"/>
              </a:lnSpc>
              <a:spcBef>
                <a:spcPts val="100"/>
              </a:spcBef>
            </a:pPr>
            <a:r>
              <a:rPr dirty="0" sz="2000" spc="-110" b="1">
                <a:solidFill>
                  <a:srgbClr val="282929"/>
                </a:solidFill>
                <a:latin typeface="Verdana"/>
                <a:cs typeface="Verdana"/>
              </a:rPr>
              <a:t>Cero</a:t>
            </a:r>
            <a:r>
              <a:rPr dirty="0" sz="2000" spc="-19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25" b="1">
                <a:solidFill>
                  <a:srgbClr val="282929"/>
                </a:solidFill>
                <a:latin typeface="Verdana"/>
                <a:cs typeface="Verdana"/>
              </a:rPr>
              <a:t>Latencia </a:t>
            </a:r>
            <a:r>
              <a:rPr dirty="0" sz="2000" spc="-150" b="1">
                <a:solidFill>
                  <a:srgbClr val="282929"/>
                </a:solidFill>
                <a:latin typeface="Verdana"/>
                <a:cs typeface="Verdana"/>
              </a:rPr>
              <a:t>Cognitiva: </a:t>
            </a:r>
            <a:r>
              <a:rPr dirty="0" sz="2000" spc="80">
                <a:solidFill>
                  <a:srgbClr val="282929"/>
                </a:solidFill>
                <a:latin typeface="Trebuchet MS"/>
                <a:cs typeface="Trebuchet MS"/>
              </a:rPr>
              <a:t>Diseño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semaforizado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30">
                <a:solidFill>
                  <a:srgbClr val="282929"/>
                </a:solidFill>
                <a:latin typeface="Trebuchet MS"/>
                <a:cs typeface="Trebuchet MS"/>
              </a:rPr>
              <a:t>para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lectura</a:t>
            </a:r>
            <a:r>
              <a:rPr dirty="0" sz="2000" spc="2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instantánea</a:t>
            </a:r>
            <a:r>
              <a:rPr dirty="0" sz="2000" spc="2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282929"/>
                </a:solidFill>
                <a:latin typeface="Trebuchet MS"/>
                <a:cs typeface="Trebuchet MS"/>
              </a:rPr>
              <a:t>en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entornos</a:t>
            </a:r>
            <a:r>
              <a:rPr dirty="0" sz="20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5">
                <a:solidFill>
                  <a:srgbClr val="282929"/>
                </a:solidFill>
                <a:latin typeface="Trebuchet MS"/>
                <a:cs typeface="Trebuchet MS"/>
              </a:rPr>
              <a:t>logísticos</a:t>
            </a:r>
            <a:r>
              <a:rPr dirty="0" sz="20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0">
                <a:solidFill>
                  <a:srgbClr val="282929"/>
                </a:solidFill>
                <a:latin typeface="Trebuchet MS"/>
                <a:cs typeface="Trebuchet MS"/>
              </a:rPr>
              <a:t>de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alta</a:t>
            </a:r>
            <a:r>
              <a:rPr dirty="0" sz="2000" spc="-9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presión.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15599"/>
              </a:lnSpc>
              <a:spcBef>
                <a:spcPts val="5"/>
              </a:spcBef>
            </a:pPr>
            <a:r>
              <a:rPr dirty="0" sz="2000" spc="-160" b="1">
                <a:solidFill>
                  <a:srgbClr val="282929"/>
                </a:solidFill>
                <a:latin typeface="Verdana"/>
                <a:cs typeface="Verdana"/>
              </a:rPr>
              <a:t>Telemetría</a:t>
            </a:r>
            <a:r>
              <a:rPr dirty="0" sz="2000" spc="-155" b="1">
                <a:solidFill>
                  <a:srgbClr val="282929"/>
                </a:solidFill>
                <a:latin typeface="Verdana"/>
                <a:cs typeface="Verdana"/>
              </a:rPr>
              <a:t> Operativa: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Consolidación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95">
                <a:solidFill>
                  <a:srgbClr val="282929"/>
                </a:solidFill>
                <a:latin typeface="Trebuchet MS"/>
                <a:cs typeface="Trebuchet MS"/>
              </a:rPr>
              <a:t>KPIs de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riesgo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crítico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y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alertas</a:t>
            </a:r>
            <a:r>
              <a:rPr dirty="0" sz="2000" spc="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preventivas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45">
                <a:solidFill>
                  <a:srgbClr val="282929"/>
                </a:solidFill>
                <a:latin typeface="Trebuchet MS"/>
                <a:cs typeface="Trebuchet MS"/>
              </a:rPr>
              <a:t>en </a:t>
            </a:r>
            <a:r>
              <a:rPr dirty="0" sz="2000" spc="65">
                <a:solidFill>
                  <a:srgbClr val="282929"/>
                </a:solidFill>
                <a:latin typeface="Trebuchet MS"/>
                <a:cs typeface="Trebuchet MS"/>
              </a:rPr>
              <a:t>un</a:t>
            </a:r>
            <a:r>
              <a:rPr dirty="0" sz="20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solo</a:t>
            </a:r>
            <a:r>
              <a:rPr dirty="0" sz="20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panel.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167341"/>
            <a:ext cx="4054475" cy="1120140"/>
          </a:xfrm>
          <a:custGeom>
            <a:avLst/>
            <a:gdLst/>
            <a:ahLst/>
            <a:cxnLst/>
            <a:rect l="l" t="t" r="r" b="b"/>
            <a:pathLst>
              <a:path w="4054475" h="1120140">
                <a:moveTo>
                  <a:pt x="0" y="44310"/>
                </a:moveTo>
                <a:lnTo>
                  <a:pt x="118785" y="32191"/>
                </a:lnTo>
                <a:lnTo>
                  <a:pt x="268456" y="19589"/>
                </a:lnTo>
                <a:lnTo>
                  <a:pt x="368258" y="12844"/>
                </a:lnTo>
                <a:lnTo>
                  <a:pt x="468050" y="7472"/>
                </a:lnTo>
                <a:lnTo>
                  <a:pt x="567811" y="3513"/>
                </a:lnTo>
                <a:lnTo>
                  <a:pt x="667518" y="1009"/>
                </a:lnTo>
                <a:lnTo>
                  <a:pt x="767149" y="0"/>
                </a:lnTo>
                <a:lnTo>
                  <a:pt x="866680" y="526"/>
                </a:lnTo>
                <a:lnTo>
                  <a:pt x="966091" y="2629"/>
                </a:lnTo>
                <a:lnTo>
                  <a:pt x="1065358" y="6348"/>
                </a:lnTo>
                <a:lnTo>
                  <a:pt x="1164459" y="11726"/>
                </a:lnTo>
                <a:lnTo>
                  <a:pt x="1263371" y="18802"/>
                </a:lnTo>
                <a:lnTo>
                  <a:pt x="1362072" y="27618"/>
                </a:lnTo>
                <a:lnTo>
                  <a:pt x="1460540" y="38214"/>
                </a:lnTo>
                <a:lnTo>
                  <a:pt x="1558753" y="50630"/>
                </a:lnTo>
                <a:lnTo>
                  <a:pt x="1607756" y="57534"/>
                </a:lnTo>
                <a:lnTo>
                  <a:pt x="1656687" y="64908"/>
                </a:lnTo>
                <a:lnTo>
                  <a:pt x="1705542" y="72757"/>
                </a:lnTo>
                <a:lnTo>
                  <a:pt x="1754320" y="81088"/>
                </a:lnTo>
                <a:lnTo>
                  <a:pt x="1803017" y="89904"/>
                </a:lnTo>
                <a:lnTo>
                  <a:pt x="1851630" y="99210"/>
                </a:lnTo>
                <a:lnTo>
                  <a:pt x="1900157" y="109013"/>
                </a:lnTo>
                <a:lnTo>
                  <a:pt x="1948595" y="119317"/>
                </a:lnTo>
                <a:lnTo>
                  <a:pt x="1996941" y="130127"/>
                </a:lnTo>
                <a:lnTo>
                  <a:pt x="2045192" y="141448"/>
                </a:lnTo>
                <a:lnTo>
                  <a:pt x="2093346" y="153285"/>
                </a:lnTo>
                <a:lnTo>
                  <a:pt x="2141399" y="165644"/>
                </a:lnTo>
                <a:lnTo>
                  <a:pt x="2189349" y="178529"/>
                </a:lnTo>
                <a:lnTo>
                  <a:pt x="2237193" y="191946"/>
                </a:lnTo>
                <a:lnTo>
                  <a:pt x="2284928" y="205899"/>
                </a:lnTo>
                <a:lnTo>
                  <a:pt x="2332551" y="220394"/>
                </a:lnTo>
                <a:lnTo>
                  <a:pt x="2380061" y="235436"/>
                </a:lnTo>
                <a:lnTo>
                  <a:pt x="2427945" y="251189"/>
                </a:lnTo>
                <a:lnTo>
                  <a:pt x="2475633" y="267474"/>
                </a:lnTo>
                <a:lnTo>
                  <a:pt x="2523125" y="284282"/>
                </a:lnTo>
                <a:lnTo>
                  <a:pt x="2570422" y="301602"/>
                </a:lnTo>
                <a:lnTo>
                  <a:pt x="2617525" y="319426"/>
                </a:lnTo>
                <a:lnTo>
                  <a:pt x="2664434" y="337744"/>
                </a:lnTo>
                <a:lnTo>
                  <a:pt x="2711149" y="356546"/>
                </a:lnTo>
                <a:lnTo>
                  <a:pt x="2757672" y="375823"/>
                </a:lnTo>
                <a:lnTo>
                  <a:pt x="2804002" y="395564"/>
                </a:lnTo>
                <a:lnTo>
                  <a:pt x="2850142" y="415761"/>
                </a:lnTo>
                <a:lnTo>
                  <a:pt x="2896090" y="436404"/>
                </a:lnTo>
                <a:lnTo>
                  <a:pt x="2941849" y="457483"/>
                </a:lnTo>
                <a:lnTo>
                  <a:pt x="2987417" y="478988"/>
                </a:lnTo>
                <a:lnTo>
                  <a:pt x="3032797" y="500910"/>
                </a:lnTo>
                <a:lnTo>
                  <a:pt x="3077988" y="523240"/>
                </a:lnTo>
                <a:lnTo>
                  <a:pt x="3122992" y="545968"/>
                </a:lnTo>
                <a:lnTo>
                  <a:pt x="3167809" y="569083"/>
                </a:lnTo>
                <a:lnTo>
                  <a:pt x="3212439" y="592578"/>
                </a:lnTo>
                <a:lnTo>
                  <a:pt x="3256883" y="616441"/>
                </a:lnTo>
                <a:lnTo>
                  <a:pt x="3301142" y="640663"/>
                </a:lnTo>
                <a:lnTo>
                  <a:pt x="3345216" y="665236"/>
                </a:lnTo>
                <a:lnTo>
                  <a:pt x="3389106" y="690148"/>
                </a:lnTo>
                <a:lnTo>
                  <a:pt x="3432813" y="715391"/>
                </a:lnTo>
                <a:lnTo>
                  <a:pt x="3476337" y="740955"/>
                </a:lnTo>
                <a:lnTo>
                  <a:pt x="3519679" y="766830"/>
                </a:lnTo>
                <a:lnTo>
                  <a:pt x="3562839" y="793008"/>
                </a:lnTo>
                <a:lnTo>
                  <a:pt x="3605818" y="819477"/>
                </a:lnTo>
                <a:lnTo>
                  <a:pt x="3648617" y="846229"/>
                </a:lnTo>
                <a:lnTo>
                  <a:pt x="3691237" y="873253"/>
                </a:lnTo>
                <a:lnTo>
                  <a:pt x="3733677" y="900541"/>
                </a:lnTo>
                <a:lnTo>
                  <a:pt x="3775939" y="928083"/>
                </a:lnTo>
                <a:lnTo>
                  <a:pt x="3818022" y="955869"/>
                </a:lnTo>
                <a:lnTo>
                  <a:pt x="3860555" y="984322"/>
                </a:lnTo>
                <a:lnTo>
                  <a:pt x="3902947" y="1013093"/>
                </a:lnTo>
                <a:lnTo>
                  <a:pt x="3945174" y="1042194"/>
                </a:lnTo>
                <a:lnTo>
                  <a:pt x="3987208" y="1071637"/>
                </a:lnTo>
                <a:lnTo>
                  <a:pt x="4029025" y="1101437"/>
                </a:lnTo>
                <a:lnTo>
                  <a:pt x="4054133" y="1119657"/>
                </a:lnTo>
                <a:lnTo>
                  <a:pt x="0" y="1119657"/>
                </a:lnTo>
                <a:lnTo>
                  <a:pt x="0" y="46437"/>
                </a:lnTo>
                <a:lnTo>
                  <a:pt x="0" y="45411"/>
                </a:lnTo>
                <a:lnTo>
                  <a:pt x="0" y="4431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9902" y="2000768"/>
            <a:ext cx="13677899" cy="769619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144567" y="127031"/>
            <a:ext cx="9998710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 indent="2978785">
              <a:lnSpc>
                <a:spcPts val="6830"/>
              </a:lnSpc>
            </a:pPr>
            <a:r>
              <a:rPr dirty="0" spc="710"/>
              <a:t>INTERFAZ </a:t>
            </a:r>
            <a:r>
              <a:rPr dirty="0" spc="815"/>
              <a:t>TRANSACCIONAL</a:t>
            </a:r>
            <a:r>
              <a:rPr dirty="0" spc="-225"/>
              <a:t> </a:t>
            </a:r>
            <a:r>
              <a:rPr dirty="0" spc="680"/>
              <a:t>ACTIVA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74" y="2144469"/>
            <a:ext cx="85725" cy="857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74" y="4944819"/>
            <a:ext cx="85725" cy="857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7174" y="7345119"/>
            <a:ext cx="85725" cy="8572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83790" y="1913951"/>
            <a:ext cx="3667125" cy="7226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100"/>
              </a:lnSpc>
              <a:spcBef>
                <a:spcPts val="100"/>
              </a:spcBef>
            </a:pPr>
            <a:r>
              <a:rPr dirty="0" sz="2300" spc="-175" b="1">
                <a:solidFill>
                  <a:srgbClr val="282929"/>
                </a:solidFill>
                <a:latin typeface="Verdana"/>
                <a:cs typeface="Verdana"/>
              </a:rPr>
              <a:t>Explicabilidad</a:t>
            </a:r>
            <a:r>
              <a:rPr dirty="0" sz="2300" spc="-1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300" spc="-20" b="1">
                <a:solidFill>
                  <a:srgbClr val="282929"/>
                </a:solidFill>
                <a:latin typeface="Verdana"/>
                <a:cs typeface="Verdana"/>
              </a:rPr>
              <a:t>(Caja </a:t>
            </a:r>
            <a:r>
              <a:rPr dirty="0" sz="2300" spc="-215" b="1">
                <a:solidFill>
                  <a:srgbClr val="282929"/>
                </a:solidFill>
                <a:latin typeface="Verdana"/>
                <a:cs typeface="Verdana"/>
              </a:rPr>
              <a:t>Blanca):</a:t>
            </a:r>
            <a:r>
              <a:rPr dirty="0" sz="2300" spc="-229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El</a:t>
            </a:r>
            <a:r>
              <a:rPr dirty="0" sz="230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sistema</a:t>
            </a:r>
            <a:r>
              <a:rPr dirty="0" sz="230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82929"/>
                </a:solidFill>
                <a:latin typeface="Trebuchet MS"/>
                <a:cs typeface="Trebuchet MS"/>
              </a:rPr>
              <a:t>detalla </a:t>
            </a:r>
            <a:r>
              <a:rPr dirty="0" sz="2300" spc="50">
                <a:solidFill>
                  <a:srgbClr val="282929"/>
                </a:solidFill>
                <a:latin typeface="Trebuchet MS"/>
                <a:cs typeface="Trebuchet MS"/>
              </a:rPr>
              <a:t>exactamente</a:t>
            </a:r>
            <a:r>
              <a:rPr dirty="0" sz="23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282929"/>
                </a:solidFill>
                <a:latin typeface="Trebuchet MS"/>
                <a:cs typeface="Trebuchet MS"/>
              </a:rPr>
              <a:t>por</a:t>
            </a:r>
            <a:r>
              <a:rPr dirty="0" sz="230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qué</a:t>
            </a:r>
            <a:r>
              <a:rPr dirty="0" sz="23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282929"/>
                </a:solidFill>
                <a:latin typeface="Trebuchet MS"/>
                <a:cs typeface="Trebuchet MS"/>
              </a:rPr>
              <a:t>el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trabajador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está</a:t>
            </a:r>
            <a:r>
              <a:rPr dirty="0" sz="2300" spc="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300" spc="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riesgo </a:t>
            </a:r>
            <a:r>
              <a:rPr dirty="0" sz="2300" spc="-120">
                <a:solidFill>
                  <a:srgbClr val="282929"/>
                </a:solidFill>
                <a:latin typeface="Trebuchet MS"/>
                <a:cs typeface="Trebuchet MS"/>
              </a:rPr>
              <a:t>(ej.</a:t>
            </a:r>
            <a:r>
              <a:rPr dirty="0" sz="23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65">
                <a:solidFill>
                  <a:srgbClr val="282929"/>
                </a:solidFill>
                <a:latin typeface="Trebuchet MS"/>
                <a:cs typeface="Trebuchet MS"/>
              </a:rPr>
              <a:t>turnos</a:t>
            </a:r>
            <a:r>
              <a:rPr dirty="0" sz="23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282929"/>
                </a:solidFill>
                <a:latin typeface="Trebuchet MS"/>
                <a:cs typeface="Trebuchet MS"/>
              </a:rPr>
              <a:t>nocturnos </a:t>
            </a:r>
            <a:r>
              <a:rPr dirty="0" sz="2300" spc="35">
                <a:solidFill>
                  <a:srgbClr val="282929"/>
                </a:solidFill>
                <a:latin typeface="Trebuchet MS"/>
                <a:cs typeface="Trebuchet MS"/>
              </a:rPr>
              <a:t>acumulados).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300">
              <a:latin typeface="Trebuchet MS"/>
              <a:cs typeface="Trebuchet MS"/>
            </a:endParaRPr>
          </a:p>
          <a:p>
            <a:pPr marL="12700" marR="58419">
              <a:lnSpc>
                <a:spcPct val="114100"/>
              </a:lnSpc>
            </a:pPr>
            <a:r>
              <a:rPr dirty="0" sz="2300" spc="-165" b="1">
                <a:solidFill>
                  <a:srgbClr val="282929"/>
                </a:solidFill>
                <a:latin typeface="Verdana"/>
                <a:cs typeface="Verdana"/>
              </a:rPr>
              <a:t>Sustitución</a:t>
            </a:r>
            <a:r>
              <a:rPr dirty="0" sz="2300" spc="-21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300" spc="-195" b="1">
                <a:solidFill>
                  <a:srgbClr val="282929"/>
                </a:solidFill>
                <a:latin typeface="Verdana"/>
                <a:cs typeface="Verdana"/>
              </a:rPr>
              <a:t>Segura: </a:t>
            </a:r>
            <a:r>
              <a:rPr dirty="0" sz="2300" spc="-10">
                <a:solidFill>
                  <a:srgbClr val="282929"/>
                </a:solidFill>
                <a:latin typeface="Trebuchet MS"/>
                <a:cs typeface="Trebuchet MS"/>
              </a:rPr>
              <a:t>Filtro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dinámico</a:t>
            </a:r>
            <a:r>
              <a:rPr dirty="0" sz="2300" spc="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300" spc="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215">
                <a:solidFill>
                  <a:srgbClr val="282929"/>
                </a:solidFill>
                <a:latin typeface="Trebuchet MS"/>
                <a:cs typeface="Trebuchet MS"/>
              </a:rPr>
              <a:t>BD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55">
                <a:solidFill>
                  <a:srgbClr val="282929"/>
                </a:solidFill>
                <a:latin typeface="Trebuchet MS"/>
                <a:cs typeface="Trebuchet MS"/>
              </a:rPr>
              <a:t>que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sugiere</a:t>
            </a:r>
            <a:r>
              <a:rPr dirty="0" sz="2300" spc="-2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82929"/>
                </a:solidFill>
                <a:latin typeface="Trebuchet MS"/>
                <a:cs typeface="Trebuchet MS"/>
              </a:rPr>
              <a:t>únicamente 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reemplazos</a:t>
            </a:r>
            <a:r>
              <a:rPr dirty="0" sz="23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105">
                <a:solidFill>
                  <a:srgbClr val="282929"/>
                </a:solidFill>
                <a:latin typeface="Trebuchet MS"/>
                <a:cs typeface="Trebuchet MS"/>
              </a:rPr>
              <a:t>con</a:t>
            </a:r>
            <a:r>
              <a:rPr dirty="0" sz="23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riesgo </a:t>
            </a:r>
            <a:r>
              <a:rPr dirty="0" sz="2300" spc="170">
                <a:solidFill>
                  <a:srgbClr val="282929"/>
                </a:solidFill>
                <a:latin typeface="Trebuchet MS"/>
                <a:cs typeface="Trebuchet MS"/>
              </a:rPr>
              <a:t>"BAJO"</a:t>
            </a:r>
            <a:r>
              <a:rPr dirty="0" sz="23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55">
                <a:solidFill>
                  <a:srgbClr val="282929"/>
                </a:solidFill>
                <a:latin typeface="Trebuchet MS"/>
                <a:cs typeface="Trebuchet MS"/>
              </a:rPr>
              <a:t>comprobado.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300">
              <a:latin typeface="Trebuchet MS"/>
              <a:cs typeface="Trebuchet MS"/>
            </a:endParaRPr>
          </a:p>
          <a:p>
            <a:pPr marL="12700" marR="453390">
              <a:lnSpc>
                <a:spcPct val="114100"/>
              </a:lnSpc>
            </a:pPr>
            <a:r>
              <a:rPr dirty="0" sz="2300" spc="-114" b="1">
                <a:solidFill>
                  <a:srgbClr val="282929"/>
                </a:solidFill>
                <a:latin typeface="Verdana"/>
                <a:cs typeface="Verdana"/>
              </a:rPr>
              <a:t>Acción</a:t>
            </a:r>
            <a:r>
              <a:rPr dirty="0" sz="2300" spc="-21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300" spc="-180" b="1">
                <a:solidFill>
                  <a:srgbClr val="282929"/>
                </a:solidFill>
                <a:latin typeface="Verdana"/>
                <a:cs typeface="Verdana"/>
              </a:rPr>
              <a:t>Directa:</a:t>
            </a:r>
            <a:r>
              <a:rPr dirty="0" sz="2300" spc="-204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300" spc="-25">
                <a:solidFill>
                  <a:srgbClr val="282929"/>
                </a:solidFill>
                <a:latin typeface="Trebuchet MS"/>
                <a:cs typeface="Trebuchet MS"/>
              </a:rPr>
              <a:t>El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frontend</a:t>
            </a:r>
            <a:r>
              <a:rPr dirty="0" sz="2300" spc="1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ejecuta</a:t>
            </a:r>
            <a:r>
              <a:rPr dirty="0" sz="2300" spc="1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-25">
                <a:solidFill>
                  <a:srgbClr val="282929"/>
                </a:solidFill>
                <a:latin typeface="Trebuchet MS"/>
                <a:cs typeface="Trebuchet MS"/>
              </a:rPr>
              <a:t>el </a:t>
            </a:r>
            <a:r>
              <a:rPr dirty="0" sz="2300" spc="175">
                <a:solidFill>
                  <a:srgbClr val="282929"/>
                </a:solidFill>
                <a:latin typeface="Trebuchet MS"/>
                <a:cs typeface="Trebuchet MS"/>
              </a:rPr>
              <a:t>UPDATE</a:t>
            </a:r>
            <a:r>
              <a:rPr dirty="0" sz="2300" spc="-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5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300" spc="-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300" spc="-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135">
                <a:solidFill>
                  <a:srgbClr val="282929"/>
                </a:solidFill>
                <a:latin typeface="Trebuchet MS"/>
                <a:cs typeface="Trebuchet MS"/>
              </a:rPr>
              <a:t>base</a:t>
            </a:r>
            <a:r>
              <a:rPr dirty="0" sz="2300" spc="-6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de </a:t>
            </a:r>
            <a:r>
              <a:rPr dirty="0" sz="2300" spc="95">
                <a:solidFill>
                  <a:srgbClr val="282929"/>
                </a:solidFill>
                <a:latin typeface="Trebuchet MS"/>
                <a:cs typeface="Trebuchet MS"/>
              </a:rPr>
              <a:t>datos</a:t>
            </a:r>
            <a:r>
              <a:rPr dirty="0" sz="230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70">
                <a:solidFill>
                  <a:srgbClr val="282929"/>
                </a:solidFill>
                <a:latin typeface="Trebuchet MS"/>
                <a:cs typeface="Trebuchet MS"/>
              </a:rPr>
              <a:t>sin</a:t>
            </a:r>
            <a:r>
              <a:rPr dirty="0" sz="23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90">
                <a:solidFill>
                  <a:srgbClr val="282929"/>
                </a:solidFill>
                <a:latin typeface="Trebuchet MS"/>
                <a:cs typeface="Trebuchet MS"/>
              </a:rPr>
              <a:t>necesidad</a:t>
            </a:r>
            <a:r>
              <a:rPr dirty="0" sz="2300" spc="-3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80">
                <a:solidFill>
                  <a:srgbClr val="282929"/>
                </a:solidFill>
                <a:latin typeface="Trebuchet MS"/>
                <a:cs typeface="Trebuchet MS"/>
              </a:rPr>
              <a:t>de </a:t>
            </a:r>
            <a:r>
              <a:rPr dirty="0" sz="2300" spc="100">
                <a:solidFill>
                  <a:srgbClr val="282929"/>
                </a:solidFill>
                <a:latin typeface="Trebuchet MS"/>
                <a:cs typeface="Trebuchet MS"/>
              </a:rPr>
              <a:t>sistemas</a:t>
            </a:r>
            <a:r>
              <a:rPr dirty="0" sz="230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300" spc="-10">
                <a:solidFill>
                  <a:srgbClr val="282929"/>
                </a:solidFill>
                <a:latin typeface="Trebuchet MS"/>
                <a:cs typeface="Trebuchet MS"/>
              </a:rPr>
              <a:t>externos.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167341"/>
            <a:ext cx="4054475" cy="1120140"/>
          </a:xfrm>
          <a:custGeom>
            <a:avLst/>
            <a:gdLst/>
            <a:ahLst/>
            <a:cxnLst/>
            <a:rect l="l" t="t" r="r" b="b"/>
            <a:pathLst>
              <a:path w="4054475" h="1120140">
                <a:moveTo>
                  <a:pt x="0" y="44310"/>
                </a:moveTo>
                <a:lnTo>
                  <a:pt x="118785" y="32191"/>
                </a:lnTo>
                <a:lnTo>
                  <a:pt x="268456" y="19589"/>
                </a:lnTo>
                <a:lnTo>
                  <a:pt x="368258" y="12844"/>
                </a:lnTo>
                <a:lnTo>
                  <a:pt x="468050" y="7472"/>
                </a:lnTo>
                <a:lnTo>
                  <a:pt x="567811" y="3513"/>
                </a:lnTo>
                <a:lnTo>
                  <a:pt x="667518" y="1009"/>
                </a:lnTo>
                <a:lnTo>
                  <a:pt x="767149" y="0"/>
                </a:lnTo>
                <a:lnTo>
                  <a:pt x="866680" y="526"/>
                </a:lnTo>
                <a:lnTo>
                  <a:pt x="966091" y="2629"/>
                </a:lnTo>
                <a:lnTo>
                  <a:pt x="1065358" y="6348"/>
                </a:lnTo>
                <a:lnTo>
                  <a:pt x="1164459" y="11726"/>
                </a:lnTo>
                <a:lnTo>
                  <a:pt x="1263371" y="18802"/>
                </a:lnTo>
                <a:lnTo>
                  <a:pt x="1362072" y="27618"/>
                </a:lnTo>
                <a:lnTo>
                  <a:pt x="1460540" y="38214"/>
                </a:lnTo>
                <a:lnTo>
                  <a:pt x="1558753" y="50630"/>
                </a:lnTo>
                <a:lnTo>
                  <a:pt x="1607756" y="57534"/>
                </a:lnTo>
                <a:lnTo>
                  <a:pt x="1656687" y="64908"/>
                </a:lnTo>
                <a:lnTo>
                  <a:pt x="1705542" y="72757"/>
                </a:lnTo>
                <a:lnTo>
                  <a:pt x="1754320" y="81088"/>
                </a:lnTo>
                <a:lnTo>
                  <a:pt x="1803017" y="89904"/>
                </a:lnTo>
                <a:lnTo>
                  <a:pt x="1851630" y="99210"/>
                </a:lnTo>
                <a:lnTo>
                  <a:pt x="1900157" y="109013"/>
                </a:lnTo>
                <a:lnTo>
                  <a:pt x="1948595" y="119317"/>
                </a:lnTo>
                <a:lnTo>
                  <a:pt x="1996941" y="130127"/>
                </a:lnTo>
                <a:lnTo>
                  <a:pt x="2045192" y="141448"/>
                </a:lnTo>
                <a:lnTo>
                  <a:pt x="2093346" y="153285"/>
                </a:lnTo>
                <a:lnTo>
                  <a:pt x="2141399" y="165644"/>
                </a:lnTo>
                <a:lnTo>
                  <a:pt x="2189349" y="178529"/>
                </a:lnTo>
                <a:lnTo>
                  <a:pt x="2237193" y="191946"/>
                </a:lnTo>
                <a:lnTo>
                  <a:pt x="2284928" y="205899"/>
                </a:lnTo>
                <a:lnTo>
                  <a:pt x="2332551" y="220394"/>
                </a:lnTo>
                <a:lnTo>
                  <a:pt x="2380061" y="235436"/>
                </a:lnTo>
                <a:lnTo>
                  <a:pt x="2427945" y="251189"/>
                </a:lnTo>
                <a:lnTo>
                  <a:pt x="2475633" y="267474"/>
                </a:lnTo>
                <a:lnTo>
                  <a:pt x="2523125" y="284282"/>
                </a:lnTo>
                <a:lnTo>
                  <a:pt x="2570422" y="301602"/>
                </a:lnTo>
                <a:lnTo>
                  <a:pt x="2617525" y="319426"/>
                </a:lnTo>
                <a:lnTo>
                  <a:pt x="2664434" y="337744"/>
                </a:lnTo>
                <a:lnTo>
                  <a:pt x="2711149" y="356546"/>
                </a:lnTo>
                <a:lnTo>
                  <a:pt x="2757672" y="375823"/>
                </a:lnTo>
                <a:lnTo>
                  <a:pt x="2804002" y="395564"/>
                </a:lnTo>
                <a:lnTo>
                  <a:pt x="2850142" y="415761"/>
                </a:lnTo>
                <a:lnTo>
                  <a:pt x="2896090" y="436404"/>
                </a:lnTo>
                <a:lnTo>
                  <a:pt x="2941849" y="457483"/>
                </a:lnTo>
                <a:lnTo>
                  <a:pt x="2987417" y="478988"/>
                </a:lnTo>
                <a:lnTo>
                  <a:pt x="3032797" y="500910"/>
                </a:lnTo>
                <a:lnTo>
                  <a:pt x="3077988" y="523240"/>
                </a:lnTo>
                <a:lnTo>
                  <a:pt x="3122992" y="545968"/>
                </a:lnTo>
                <a:lnTo>
                  <a:pt x="3167809" y="569083"/>
                </a:lnTo>
                <a:lnTo>
                  <a:pt x="3212439" y="592578"/>
                </a:lnTo>
                <a:lnTo>
                  <a:pt x="3256883" y="616441"/>
                </a:lnTo>
                <a:lnTo>
                  <a:pt x="3301142" y="640663"/>
                </a:lnTo>
                <a:lnTo>
                  <a:pt x="3345216" y="665236"/>
                </a:lnTo>
                <a:lnTo>
                  <a:pt x="3389106" y="690148"/>
                </a:lnTo>
                <a:lnTo>
                  <a:pt x="3432813" y="715391"/>
                </a:lnTo>
                <a:lnTo>
                  <a:pt x="3476337" y="740955"/>
                </a:lnTo>
                <a:lnTo>
                  <a:pt x="3519679" y="766830"/>
                </a:lnTo>
                <a:lnTo>
                  <a:pt x="3562839" y="793008"/>
                </a:lnTo>
                <a:lnTo>
                  <a:pt x="3605818" y="819477"/>
                </a:lnTo>
                <a:lnTo>
                  <a:pt x="3648617" y="846229"/>
                </a:lnTo>
                <a:lnTo>
                  <a:pt x="3691237" y="873253"/>
                </a:lnTo>
                <a:lnTo>
                  <a:pt x="3733677" y="900541"/>
                </a:lnTo>
                <a:lnTo>
                  <a:pt x="3775939" y="928083"/>
                </a:lnTo>
                <a:lnTo>
                  <a:pt x="3818022" y="955869"/>
                </a:lnTo>
                <a:lnTo>
                  <a:pt x="3860555" y="984322"/>
                </a:lnTo>
                <a:lnTo>
                  <a:pt x="3902947" y="1013093"/>
                </a:lnTo>
                <a:lnTo>
                  <a:pt x="3945174" y="1042194"/>
                </a:lnTo>
                <a:lnTo>
                  <a:pt x="3987208" y="1071637"/>
                </a:lnTo>
                <a:lnTo>
                  <a:pt x="4029025" y="1101437"/>
                </a:lnTo>
                <a:lnTo>
                  <a:pt x="4054133" y="1119657"/>
                </a:lnTo>
                <a:lnTo>
                  <a:pt x="0" y="1119657"/>
                </a:lnTo>
                <a:lnTo>
                  <a:pt x="0" y="46437"/>
                </a:lnTo>
                <a:lnTo>
                  <a:pt x="0" y="45411"/>
                </a:lnTo>
                <a:lnTo>
                  <a:pt x="0" y="4431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362049" y="0"/>
            <a:ext cx="4926330" cy="1112520"/>
          </a:xfrm>
          <a:custGeom>
            <a:avLst/>
            <a:gdLst/>
            <a:ahLst/>
            <a:cxnLst/>
            <a:rect l="l" t="t" r="r" b="b"/>
            <a:pathLst>
              <a:path w="4926330" h="1112520">
                <a:moveTo>
                  <a:pt x="0" y="0"/>
                </a:moveTo>
                <a:lnTo>
                  <a:pt x="4925949" y="0"/>
                </a:lnTo>
                <a:lnTo>
                  <a:pt x="4925949" y="1112125"/>
                </a:lnTo>
                <a:lnTo>
                  <a:pt x="2810989" y="995705"/>
                </a:lnTo>
                <a:lnTo>
                  <a:pt x="2561061" y="977132"/>
                </a:lnTo>
                <a:lnTo>
                  <a:pt x="2410533" y="963454"/>
                </a:lnTo>
                <a:lnTo>
                  <a:pt x="2259965" y="947470"/>
                </a:lnTo>
                <a:lnTo>
                  <a:pt x="2109672" y="928845"/>
                </a:lnTo>
                <a:lnTo>
                  <a:pt x="2009785" y="914798"/>
                </a:lnTo>
                <a:lnTo>
                  <a:pt x="1910255" y="899331"/>
                </a:lnTo>
                <a:lnTo>
                  <a:pt x="1811174" y="882346"/>
                </a:lnTo>
                <a:lnTo>
                  <a:pt x="1712638" y="863744"/>
                </a:lnTo>
                <a:lnTo>
                  <a:pt x="1663603" y="853806"/>
                </a:lnTo>
                <a:lnTo>
                  <a:pt x="1614739" y="843426"/>
                </a:lnTo>
                <a:lnTo>
                  <a:pt x="1566058" y="832594"/>
                </a:lnTo>
                <a:lnTo>
                  <a:pt x="1517571" y="821295"/>
                </a:lnTo>
                <a:lnTo>
                  <a:pt x="1469290" y="809519"/>
                </a:lnTo>
                <a:lnTo>
                  <a:pt x="1421228" y="797252"/>
                </a:lnTo>
                <a:lnTo>
                  <a:pt x="1373394" y="784482"/>
                </a:lnTo>
                <a:lnTo>
                  <a:pt x="1325803" y="771197"/>
                </a:lnTo>
                <a:lnTo>
                  <a:pt x="1278464" y="757385"/>
                </a:lnTo>
                <a:lnTo>
                  <a:pt x="1231390" y="743032"/>
                </a:lnTo>
                <a:lnTo>
                  <a:pt x="1184592" y="728128"/>
                </a:lnTo>
                <a:lnTo>
                  <a:pt x="1138083" y="712660"/>
                </a:lnTo>
                <a:lnTo>
                  <a:pt x="1091873" y="696615"/>
                </a:lnTo>
                <a:lnTo>
                  <a:pt x="1045975" y="679981"/>
                </a:lnTo>
                <a:lnTo>
                  <a:pt x="1000401" y="662745"/>
                </a:lnTo>
                <a:lnTo>
                  <a:pt x="955161" y="644896"/>
                </a:lnTo>
                <a:lnTo>
                  <a:pt x="910268" y="626421"/>
                </a:lnTo>
                <a:lnTo>
                  <a:pt x="865733" y="607308"/>
                </a:lnTo>
                <a:lnTo>
                  <a:pt x="821569" y="587544"/>
                </a:lnTo>
                <a:lnTo>
                  <a:pt x="777786" y="567117"/>
                </a:lnTo>
                <a:lnTo>
                  <a:pt x="734397" y="546015"/>
                </a:lnTo>
                <a:lnTo>
                  <a:pt x="691413" y="524225"/>
                </a:lnTo>
                <a:lnTo>
                  <a:pt x="648846" y="501736"/>
                </a:lnTo>
                <a:lnTo>
                  <a:pt x="606708" y="478534"/>
                </a:lnTo>
                <a:lnTo>
                  <a:pt x="565010" y="454608"/>
                </a:lnTo>
                <a:lnTo>
                  <a:pt x="523764" y="429944"/>
                </a:lnTo>
                <a:lnTo>
                  <a:pt x="482982" y="404532"/>
                </a:lnTo>
                <a:lnTo>
                  <a:pt x="442675" y="378358"/>
                </a:lnTo>
                <a:lnTo>
                  <a:pt x="402856" y="351411"/>
                </a:lnTo>
                <a:lnTo>
                  <a:pt x="363535" y="323677"/>
                </a:lnTo>
                <a:lnTo>
                  <a:pt x="324725" y="295145"/>
                </a:lnTo>
                <a:lnTo>
                  <a:pt x="286437" y="265802"/>
                </a:lnTo>
                <a:lnTo>
                  <a:pt x="248684" y="235636"/>
                </a:lnTo>
                <a:lnTo>
                  <a:pt x="211476" y="204634"/>
                </a:lnTo>
                <a:lnTo>
                  <a:pt x="174826" y="172785"/>
                </a:lnTo>
                <a:lnTo>
                  <a:pt x="138744" y="140076"/>
                </a:lnTo>
                <a:lnTo>
                  <a:pt x="103244" y="106494"/>
                </a:lnTo>
                <a:lnTo>
                  <a:pt x="68336" y="72028"/>
                </a:lnTo>
                <a:lnTo>
                  <a:pt x="34033" y="36664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7053" y="2262794"/>
            <a:ext cx="6419849" cy="7893340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52619" y="188445"/>
            <a:ext cx="9758045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ts val="6830"/>
              </a:lnSpc>
            </a:pPr>
            <a:r>
              <a:rPr dirty="0" spc="900"/>
              <a:t>METODOLOGÍA</a:t>
            </a:r>
            <a:r>
              <a:rPr dirty="0" spc="-220"/>
              <a:t> </a:t>
            </a:r>
            <a:r>
              <a:rPr dirty="0" spc="580"/>
              <a:t>HÍBRIDA </a:t>
            </a:r>
            <a:r>
              <a:rPr dirty="0" spc="960"/>
              <a:t>DE</a:t>
            </a:r>
            <a:r>
              <a:rPr dirty="0" spc="-254"/>
              <a:t> </a:t>
            </a:r>
            <a:r>
              <a:rPr dirty="0" spc="805"/>
              <a:t>DESARROLLO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7220" y="3436610"/>
            <a:ext cx="102814" cy="10281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17220" y="5835613"/>
            <a:ext cx="102814" cy="10281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591544" y="3162670"/>
            <a:ext cx="5969000" cy="4823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6690">
              <a:lnSpc>
                <a:spcPct val="114500"/>
              </a:lnSpc>
              <a:spcBef>
                <a:spcPts val="95"/>
              </a:spcBef>
            </a:pPr>
            <a:r>
              <a:rPr dirty="0" sz="2750" spc="-250" b="1">
                <a:solidFill>
                  <a:srgbClr val="282929"/>
                </a:solidFill>
                <a:latin typeface="Verdana"/>
                <a:cs typeface="Verdana"/>
              </a:rPr>
              <a:t>CRISP-</a:t>
            </a:r>
            <a:r>
              <a:rPr dirty="0" sz="2750" spc="-235" b="1">
                <a:solidFill>
                  <a:srgbClr val="282929"/>
                </a:solidFill>
                <a:latin typeface="Verdana"/>
                <a:cs typeface="Verdana"/>
              </a:rPr>
              <a:t>DM:</a:t>
            </a:r>
            <a:r>
              <a:rPr dirty="0" sz="2750" spc="-2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750" spc="90">
                <a:solidFill>
                  <a:srgbClr val="282929"/>
                </a:solidFill>
                <a:latin typeface="Trebuchet MS"/>
                <a:cs typeface="Trebuchet MS"/>
              </a:rPr>
              <a:t>Guiando</a:t>
            </a:r>
            <a:r>
              <a:rPr dirty="0" sz="2750" spc="-1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25">
                <a:solidFill>
                  <a:srgbClr val="282929"/>
                </a:solidFill>
                <a:latin typeface="Trebuchet MS"/>
                <a:cs typeface="Trebuchet MS"/>
              </a:rPr>
              <a:t>el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entendimiento</a:t>
            </a:r>
            <a:r>
              <a:rPr dirty="0" sz="2750" spc="1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del</a:t>
            </a:r>
            <a:r>
              <a:rPr dirty="0" sz="2750" spc="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70">
                <a:solidFill>
                  <a:srgbClr val="282929"/>
                </a:solidFill>
                <a:latin typeface="Trebuchet MS"/>
                <a:cs typeface="Trebuchet MS"/>
              </a:rPr>
              <a:t>negocio,</a:t>
            </a:r>
            <a:r>
              <a:rPr dirty="0" sz="2750" spc="17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25">
                <a:solidFill>
                  <a:srgbClr val="282929"/>
                </a:solidFill>
                <a:latin typeface="Trebuchet MS"/>
                <a:cs typeface="Trebuchet MS"/>
              </a:rPr>
              <a:t>la </a:t>
            </a:r>
            <a:r>
              <a:rPr dirty="0" sz="2750" spc="75">
                <a:solidFill>
                  <a:srgbClr val="282929"/>
                </a:solidFill>
                <a:latin typeface="Trebuchet MS"/>
                <a:cs typeface="Trebuchet MS"/>
              </a:rPr>
              <a:t>creación</a:t>
            </a:r>
            <a:r>
              <a:rPr dirty="0" sz="275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3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75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25">
                <a:solidFill>
                  <a:srgbClr val="282929"/>
                </a:solidFill>
                <a:latin typeface="Trebuchet MS"/>
                <a:cs typeface="Trebuchet MS"/>
              </a:rPr>
              <a:t>datos</a:t>
            </a:r>
            <a:r>
              <a:rPr dirty="0" sz="275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65">
                <a:solidFill>
                  <a:srgbClr val="282929"/>
                </a:solidFill>
                <a:latin typeface="Trebuchet MS"/>
                <a:cs typeface="Trebuchet MS"/>
              </a:rPr>
              <a:t>sintéticos</a:t>
            </a:r>
            <a:r>
              <a:rPr dirty="0" sz="2750" spc="-3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7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750" spc="-4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25">
                <a:solidFill>
                  <a:srgbClr val="282929"/>
                </a:solidFill>
                <a:latin typeface="Trebuchet MS"/>
                <a:cs typeface="Trebuchet MS"/>
              </a:rPr>
              <a:t>el </a:t>
            </a:r>
            <a:r>
              <a:rPr dirty="0" sz="2750" spc="95">
                <a:solidFill>
                  <a:srgbClr val="282929"/>
                </a:solidFill>
                <a:latin typeface="Trebuchet MS"/>
                <a:cs typeface="Trebuchet MS"/>
              </a:rPr>
              <a:t>modelado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del</a:t>
            </a:r>
            <a:r>
              <a:rPr dirty="0" sz="2750" spc="10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algoritmo</a:t>
            </a:r>
            <a:r>
              <a:rPr dirty="0" sz="2750" spc="10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10">
                <a:solidFill>
                  <a:srgbClr val="282929"/>
                </a:solidFill>
                <a:latin typeface="Trebuchet MS"/>
                <a:cs typeface="Trebuchet MS"/>
              </a:rPr>
              <a:t>predictivo.</a:t>
            </a:r>
            <a:endParaRPr sz="2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750">
              <a:latin typeface="Trebuchet MS"/>
              <a:cs typeface="Trebuchet MS"/>
            </a:endParaRPr>
          </a:p>
          <a:p>
            <a:pPr marL="12700" marR="5080">
              <a:lnSpc>
                <a:spcPct val="114500"/>
              </a:lnSpc>
            </a:pPr>
            <a:r>
              <a:rPr dirty="0" sz="2750" spc="-215" b="1">
                <a:solidFill>
                  <a:srgbClr val="282929"/>
                </a:solidFill>
                <a:latin typeface="Verdana"/>
                <a:cs typeface="Verdana"/>
              </a:rPr>
              <a:t>Scrum</a:t>
            </a:r>
            <a:r>
              <a:rPr dirty="0" sz="2750" spc="-28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750" spc="-840" b="1">
                <a:solidFill>
                  <a:srgbClr val="282929"/>
                </a:solidFill>
                <a:latin typeface="Verdana"/>
                <a:cs typeface="Verdana"/>
              </a:rPr>
              <a:t>/</a:t>
            </a:r>
            <a:r>
              <a:rPr dirty="0" sz="2750" spc="-2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750" spc="-254" b="1">
                <a:solidFill>
                  <a:srgbClr val="282929"/>
                </a:solidFill>
                <a:latin typeface="Verdana"/>
                <a:cs typeface="Verdana"/>
              </a:rPr>
              <a:t>Kanban:</a:t>
            </a:r>
            <a:r>
              <a:rPr dirty="0" sz="2750" spc="-2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750" spc="110">
                <a:solidFill>
                  <a:srgbClr val="282929"/>
                </a:solidFill>
                <a:latin typeface="Trebuchet MS"/>
                <a:cs typeface="Trebuchet MS"/>
              </a:rPr>
              <a:t>Ciclos</a:t>
            </a:r>
            <a:r>
              <a:rPr dirty="0" sz="2750" spc="-2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10">
                <a:solidFill>
                  <a:srgbClr val="282929"/>
                </a:solidFill>
                <a:latin typeface="Trebuchet MS"/>
                <a:cs typeface="Trebuchet MS"/>
              </a:rPr>
              <a:t>iterativos </a:t>
            </a:r>
            <a:r>
              <a:rPr dirty="0" sz="2750" spc="70">
                <a:solidFill>
                  <a:srgbClr val="282929"/>
                </a:solidFill>
                <a:latin typeface="Trebuchet MS"/>
                <a:cs typeface="Trebuchet MS"/>
              </a:rPr>
              <a:t>(Sprints)</a:t>
            </a:r>
            <a:r>
              <a:rPr dirty="0" sz="2750" spc="-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75">
                <a:solidFill>
                  <a:srgbClr val="282929"/>
                </a:solidFill>
                <a:latin typeface="Trebuchet MS"/>
                <a:cs typeface="Trebuchet MS"/>
              </a:rPr>
              <a:t>para</a:t>
            </a:r>
            <a:r>
              <a:rPr dirty="0" sz="275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el</a:t>
            </a:r>
            <a:r>
              <a:rPr dirty="0" sz="275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60">
                <a:solidFill>
                  <a:srgbClr val="282929"/>
                </a:solidFill>
                <a:latin typeface="Trebuchet MS"/>
                <a:cs typeface="Trebuchet MS"/>
              </a:rPr>
              <a:t>desarrollo</a:t>
            </a:r>
            <a:r>
              <a:rPr dirty="0" sz="275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3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750" spc="-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25">
                <a:solidFill>
                  <a:srgbClr val="282929"/>
                </a:solidFill>
                <a:latin typeface="Trebuchet MS"/>
                <a:cs typeface="Trebuchet MS"/>
              </a:rPr>
              <a:t>la </a:t>
            </a:r>
            <a:r>
              <a:rPr dirty="0" sz="2750">
                <a:solidFill>
                  <a:srgbClr val="282929"/>
                </a:solidFill>
                <a:latin typeface="Trebuchet MS"/>
                <a:cs typeface="Trebuchet MS"/>
              </a:rPr>
              <a:t>arquitectura</a:t>
            </a:r>
            <a:r>
              <a:rPr dirty="0" sz="2750" spc="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275">
                <a:solidFill>
                  <a:srgbClr val="282929"/>
                </a:solidFill>
                <a:latin typeface="Trebuchet MS"/>
                <a:cs typeface="Trebuchet MS"/>
              </a:rPr>
              <a:t>N-</a:t>
            </a:r>
            <a:r>
              <a:rPr dirty="0" sz="2750" spc="-10">
                <a:solidFill>
                  <a:srgbClr val="282929"/>
                </a:solidFill>
                <a:latin typeface="Trebuchet MS"/>
                <a:cs typeface="Trebuchet MS"/>
              </a:rPr>
              <a:t>Tier,</a:t>
            </a:r>
            <a:r>
              <a:rPr dirty="0" sz="2750" spc="9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-10">
                <a:solidFill>
                  <a:srgbClr val="282929"/>
                </a:solidFill>
                <a:latin typeface="Trebuchet MS"/>
                <a:cs typeface="Trebuchet MS"/>
              </a:rPr>
              <a:t>levantamiento </a:t>
            </a:r>
            <a:r>
              <a:rPr dirty="0" sz="2750" spc="13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75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80">
                <a:solidFill>
                  <a:srgbClr val="282929"/>
                </a:solidFill>
                <a:latin typeface="Trebuchet MS"/>
                <a:cs typeface="Trebuchet MS"/>
              </a:rPr>
              <a:t>Historias</a:t>
            </a:r>
            <a:r>
              <a:rPr dirty="0" sz="275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3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75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05">
                <a:solidFill>
                  <a:srgbClr val="282929"/>
                </a:solidFill>
                <a:latin typeface="Trebuchet MS"/>
                <a:cs typeface="Trebuchet MS"/>
              </a:rPr>
              <a:t>Usuario</a:t>
            </a:r>
            <a:r>
              <a:rPr dirty="0" sz="2750" spc="-4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175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750" spc="-5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750" spc="85">
                <a:solidFill>
                  <a:srgbClr val="282929"/>
                </a:solidFill>
                <a:latin typeface="Trebuchet MS"/>
                <a:cs typeface="Trebuchet MS"/>
              </a:rPr>
              <a:t>revisiones </a:t>
            </a:r>
            <a:r>
              <a:rPr dirty="0" sz="2750" spc="40">
                <a:solidFill>
                  <a:srgbClr val="282929"/>
                </a:solidFill>
                <a:latin typeface="Trebuchet MS"/>
                <a:cs typeface="Trebuchet MS"/>
              </a:rPr>
              <a:t>continuas.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9329460"/>
            <a:ext cx="3725545" cy="957580"/>
          </a:xfrm>
          <a:custGeom>
            <a:avLst/>
            <a:gdLst/>
            <a:ahLst/>
            <a:cxnLst/>
            <a:rect l="l" t="t" r="r" b="b"/>
            <a:pathLst>
              <a:path w="3725545" h="957579">
                <a:moveTo>
                  <a:pt x="0" y="34476"/>
                </a:moveTo>
                <a:lnTo>
                  <a:pt x="173206" y="19589"/>
                </a:lnTo>
                <a:lnTo>
                  <a:pt x="273008" y="12844"/>
                </a:lnTo>
                <a:lnTo>
                  <a:pt x="372800" y="7472"/>
                </a:lnTo>
                <a:lnTo>
                  <a:pt x="472561" y="3513"/>
                </a:lnTo>
                <a:lnTo>
                  <a:pt x="572268" y="1009"/>
                </a:lnTo>
                <a:lnTo>
                  <a:pt x="671899" y="0"/>
                </a:lnTo>
                <a:lnTo>
                  <a:pt x="771430" y="526"/>
                </a:lnTo>
                <a:lnTo>
                  <a:pt x="870841" y="2629"/>
                </a:lnTo>
                <a:lnTo>
                  <a:pt x="970108" y="6348"/>
                </a:lnTo>
                <a:lnTo>
                  <a:pt x="1069209" y="11726"/>
                </a:lnTo>
                <a:lnTo>
                  <a:pt x="1168121" y="18802"/>
                </a:lnTo>
                <a:lnTo>
                  <a:pt x="1266822" y="27618"/>
                </a:lnTo>
                <a:lnTo>
                  <a:pt x="1365290" y="38214"/>
                </a:lnTo>
                <a:lnTo>
                  <a:pt x="1463503" y="50630"/>
                </a:lnTo>
                <a:lnTo>
                  <a:pt x="1512506" y="57534"/>
                </a:lnTo>
                <a:lnTo>
                  <a:pt x="1561437" y="64908"/>
                </a:lnTo>
                <a:lnTo>
                  <a:pt x="1610292" y="72757"/>
                </a:lnTo>
                <a:lnTo>
                  <a:pt x="1659070" y="81088"/>
                </a:lnTo>
                <a:lnTo>
                  <a:pt x="1707767" y="89904"/>
                </a:lnTo>
                <a:lnTo>
                  <a:pt x="1756380" y="99210"/>
                </a:lnTo>
                <a:lnTo>
                  <a:pt x="1804907" y="109013"/>
                </a:lnTo>
                <a:lnTo>
                  <a:pt x="1853345" y="119317"/>
                </a:lnTo>
                <a:lnTo>
                  <a:pt x="1901691" y="130127"/>
                </a:lnTo>
                <a:lnTo>
                  <a:pt x="1949942" y="141448"/>
                </a:lnTo>
                <a:lnTo>
                  <a:pt x="1998096" y="153285"/>
                </a:lnTo>
                <a:lnTo>
                  <a:pt x="2046149" y="165644"/>
                </a:lnTo>
                <a:lnTo>
                  <a:pt x="2094099" y="178529"/>
                </a:lnTo>
                <a:lnTo>
                  <a:pt x="2141943" y="191946"/>
                </a:lnTo>
                <a:lnTo>
                  <a:pt x="2189678" y="205899"/>
                </a:lnTo>
                <a:lnTo>
                  <a:pt x="2237302" y="220394"/>
                </a:lnTo>
                <a:lnTo>
                  <a:pt x="2284811" y="235436"/>
                </a:lnTo>
                <a:lnTo>
                  <a:pt x="2332695" y="251189"/>
                </a:lnTo>
                <a:lnTo>
                  <a:pt x="2380383" y="267474"/>
                </a:lnTo>
                <a:lnTo>
                  <a:pt x="2427875" y="284282"/>
                </a:lnTo>
                <a:lnTo>
                  <a:pt x="2475172" y="301602"/>
                </a:lnTo>
                <a:lnTo>
                  <a:pt x="2522275" y="319426"/>
                </a:lnTo>
                <a:lnTo>
                  <a:pt x="2569184" y="337744"/>
                </a:lnTo>
                <a:lnTo>
                  <a:pt x="2615899" y="356546"/>
                </a:lnTo>
                <a:lnTo>
                  <a:pt x="2662422" y="375823"/>
                </a:lnTo>
                <a:lnTo>
                  <a:pt x="2708752" y="395564"/>
                </a:lnTo>
                <a:lnTo>
                  <a:pt x="2754892" y="415761"/>
                </a:lnTo>
                <a:lnTo>
                  <a:pt x="2800840" y="436404"/>
                </a:lnTo>
                <a:lnTo>
                  <a:pt x="2846599" y="457483"/>
                </a:lnTo>
                <a:lnTo>
                  <a:pt x="2892167" y="478988"/>
                </a:lnTo>
                <a:lnTo>
                  <a:pt x="2937547" y="500910"/>
                </a:lnTo>
                <a:lnTo>
                  <a:pt x="2982738" y="523240"/>
                </a:lnTo>
                <a:lnTo>
                  <a:pt x="3027742" y="545968"/>
                </a:lnTo>
                <a:lnTo>
                  <a:pt x="3072559" y="569083"/>
                </a:lnTo>
                <a:lnTo>
                  <a:pt x="3117189" y="592578"/>
                </a:lnTo>
                <a:lnTo>
                  <a:pt x="3161633" y="616441"/>
                </a:lnTo>
                <a:lnTo>
                  <a:pt x="3205892" y="640663"/>
                </a:lnTo>
                <a:lnTo>
                  <a:pt x="3249966" y="665236"/>
                </a:lnTo>
                <a:lnTo>
                  <a:pt x="3293856" y="690148"/>
                </a:lnTo>
                <a:lnTo>
                  <a:pt x="3337563" y="715391"/>
                </a:lnTo>
                <a:lnTo>
                  <a:pt x="3381087" y="740955"/>
                </a:lnTo>
                <a:lnTo>
                  <a:pt x="3424429" y="766830"/>
                </a:lnTo>
                <a:lnTo>
                  <a:pt x="3467589" y="793008"/>
                </a:lnTo>
                <a:lnTo>
                  <a:pt x="3510569" y="819477"/>
                </a:lnTo>
                <a:lnTo>
                  <a:pt x="3553367" y="846229"/>
                </a:lnTo>
                <a:lnTo>
                  <a:pt x="3595987" y="873253"/>
                </a:lnTo>
                <a:lnTo>
                  <a:pt x="3638427" y="900541"/>
                </a:lnTo>
                <a:lnTo>
                  <a:pt x="3680689" y="928083"/>
                </a:lnTo>
                <a:lnTo>
                  <a:pt x="3722772" y="955869"/>
                </a:lnTo>
                <a:lnTo>
                  <a:pt x="3725268" y="957539"/>
                </a:lnTo>
                <a:lnTo>
                  <a:pt x="0" y="957539"/>
                </a:lnTo>
                <a:lnTo>
                  <a:pt x="0" y="35836"/>
                </a:lnTo>
                <a:lnTo>
                  <a:pt x="0" y="34810"/>
                </a:lnTo>
                <a:lnTo>
                  <a:pt x="0" y="34476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3774700" y="0"/>
            <a:ext cx="4513580" cy="814069"/>
          </a:xfrm>
          <a:custGeom>
            <a:avLst/>
            <a:gdLst/>
            <a:ahLst/>
            <a:cxnLst/>
            <a:rect l="l" t="t" r="r" b="b"/>
            <a:pathLst>
              <a:path w="4513580" h="814069">
                <a:moveTo>
                  <a:pt x="0" y="0"/>
                </a:moveTo>
                <a:lnTo>
                  <a:pt x="4513300" y="0"/>
                </a:lnTo>
                <a:lnTo>
                  <a:pt x="4513300" y="813854"/>
                </a:lnTo>
                <a:lnTo>
                  <a:pt x="2486766" y="700945"/>
                </a:lnTo>
                <a:lnTo>
                  <a:pt x="2236838" y="682372"/>
                </a:lnTo>
                <a:lnTo>
                  <a:pt x="2086310" y="668694"/>
                </a:lnTo>
                <a:lnTo>
                  <a:pt x="1935742" y="652710"/>
                </a:lnTo>
                <a:lnTo>
                  <a:pt x="1785449" y="634085"/>
                </a:lnTo>
                <a:lnTo>
                  <a:pt x="1685562" y="620038"/>
                </a:lnTo>
                <a:lnTo>
                  <a:pt x="1586032" y="604571"/>
                </a:lnTo>
                <a:lnTo>
                  <a:pt x="1486951" y="587586"/>
                </a:lnTo>
                <a:lnTo>
                  <a:pt x="1388415" y="568984"/>
                </a:lnTo>
                <a:lnTo>
                  <a:pt x="1339380" y="559046"/>
                </a:lnTo>
                <a:lnTo>
                  <a:pt x="1290516" y="548666"/>
                </a:lnTo>
                <a:lnTo>
                  <a:pt x="1241835" y="537834"/>
                </a:lnTo>
                <a:lnTo>
                  <a:pt x="1193348" y="526535"/>
                </a:lnTo>
                <a:lnTo>
                  <a:pt x="1145067" y="514759"/>
                </a:lnTo>
                <a:lnTo>
                  <a:pt x="1097005" y="502492"/>
                </a:lnTo>
                <a:lnTo>
                  <a:pt x="1049172" y="489722"/>
                </a:lnTo>
                <a:lnTo>
                  <a:pt x="1001580" y="476437"/>
                </a:lnTo>
                <a:lnTo>
                  <a:pt x="954241" y="462625"/>
                </a:lnTo>
                <a:lnTo>
                  <a:pt x="907167" y="448273"/>
                </a:lnTo>
                <a:lnTo>
                  <a:pt x="860370" y="433368"/>
                </a:lnTo>
                <a:lnTo>
                  <a:pt x="813860" y="417900"/>
                </a:lnTo>
                <a:lnTo>
                  <a:pt x="767651" y="401855"/>
                </a:lnTo>
                <a:lnTo>
                  <a:pt x="721753" y="385221"/>
                </a:lnTo>
                <a:lnTo>
                  <a:pt x="676178" y="367985"/>
                </a:lnTo>
                <a:lnTo>
                  <a:pt x="630938" y="350136"/>
                </a:lnTo>
                <a:lnTo>
                  <a:pt x="586045" y="331661"/>
                </a:lnTo>
                <a:lnTo>
                  <a:pt x="541510" y="312548"/>
                </a:lnTo>
                <a:lnTo>
                  <a:pt x="497346" y="292784"/>
                </a:lnTo>
                <a:lnTo>
                  <a:pt x="453563" y="272357"/>
                </a:lnTo>
                <a:lnTo>
                  <a:pt x="410174" y="251255"/>
                </a:lnTo>
                <a:lnTo>
                  <a:pt x="367190" y="229465"/>
                </a:lnTo>
                <a:lnTo>
                  <a:pt x="324623" y="206976"/>
                </a:lnTo>
                <a:lnTo>
                  <a:pt x="282485" y="183774"/>
                </a:lnTo>
                <a:lnTo>
                  <a:pt x="240787" y="159848"/>
                </a:lnTo>
                <a:lnTo>
                  <a:pt x="199541" y="135184"/>
                </a:lnTo>
                <a:lnTo>
                  <a:pt x="158759" y="109772"/>
                </a:lnTo>
                <a:lnTo>
                  <a:pt x="118452" y="83598"/>
                </a:lnTo>
                <a:lnTo>
                  <a:pt x="78633" y="56651"/>
                </a:lnTo>
                <a:lnTo>
                  <a:pt x="39312" y="28917"/>
                </a:lnTo>
                <a:lnTo>
                  <a:pt x="0" y="0"/>
                </a:lnTo>
                <a:close/>
              </a:path>
            </a:pathLst>
          </a:custGeom>
          <a:solidFill>
            <a:srgbClr val="C1D0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373" y="1310428"/>
            <a:ext cx="13430249" cy="6496049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79850">
              <a:lnSpc>
                <a:spcPct val="100000"/>
              </a:lnSpc>
              <a:spcBef>
                <a:spcPts val="100"/>
              </a:spcBef>
            </a:pPr>
            <a:r>
              <a:rPr dirty="0" spc="990"/>
              <a:t>QA</a:t>
            </a:r>
            <a:r>
              <a:rPr dirty="0" spc="-250"/>
              <a:t> </a:t>
            </a:r>
            <a:r>
              <a:rPr dirty="0" spc="610"/>
              <a:t>y</a:t>
            </a:r>
            <a:r>
              <a:rPr dirty="0" spc="-245"/>
              <a:t> </a:t>
            </a:r>
            <a:r>
              <a:rPr dirty="0" spc="220"/>
              <a:t>Plan</a:t>
            </a:r>
            <a:r>
              <a:rPr dirty="0" spc="-245"/>
              <a:t> </a:t>
            </a:r>
            <a:r>
              <a:rPr dirty="0" spc="280"/>
              <a:t>de</a:t>
            </a:r>
            <a:r>
              <a:rPr dirty="0" spc="-245"/>
              <a:t> </a:t>
            </a:r>
            <a:r>
              <a:rPr dirty="0" spc="160"/>
              <a:t>Trabajo</a:t>
            </a:r>
            <a:r>
              <a:rPr dirty="0" spc="-245"/>
              <a:t> </a:t>
            </a:r>
            <a:r>
              <a:rPr dirty="0" spc="-10"/>
              <a:t>(Hitos)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505" y="7925518"/>
            <a:ext cx="76200" cy="76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505" y="8239843"/>
            <a:ext cx="76200" cy="76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44505" y="8868493"/>
            <a:ext cx="76200" cy="76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754005" y="7773182"/>
            <a:ext cx="12042140" cy="1273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215" b="1">
                <a:solidFill>
                  <a:srgbClr val="282929"/>
                </a:solidFill>
                <a:latin typeface="Verdana"/>
                <a:cs typeface="Verdana"/>
              </a:rPr>
              <a:t>Fase</a:t>
            </a:r>
            <a:r>
              <a:rPr dirty="0" sz="2000" spc="-3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484" b="1">
                <a:solidFill>
                  <a:srgbClr val="282929"/>
                </a:solidFill>
                <a:latin typeface="Verdana"/>
                <a:cs typeface="Verdana"/>
              </a:rPr>
              <a:t>1</a:t>
            </a:r>
            <a:r>
              <a:rPr dirty="0" sz="2000" spc="-3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270" b="1">
                <a:solidFill>
                  <a:srgbClr val="282929"/>
                </a:solidFill>
                <a:latin typeface="Verdana"/>
                <a:cs typeface="Verdana"/>
              </a:rPr>
              <a:t>(Sem.</a:t>
            </a:r>
            <a:r>
              <a:rPr dirty="0" sz="2000" spc="-44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355" b="1">
                <a:solidFill>
                  <a:srgbClr val="282929"/>
                </a:solidFill>
                <a:latin typeface="Verdana"/>
                <a:cs typeface="Verdana"/>
              </a:rPr>
              <a:t>1-</a:t>
            </a:r>
            <a:r>
              <a:rPr dirty="0" sz="2000" spc="-254" b="1">
                <a:solidFill>
                  <a:srgbClr val="282929"/>
                </a:solidFill>
                <a:latin typeface="Verdana"/>
                <a:cs typeface="Verdana"/>
              </a:rPr>
              <a:t>4):</a:t>
            </a:r>
            <a:r>
              <a:rPr dirty="0" sz="2000" spc="-3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Modelado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60">
                <a:solidFill>
                  <a:srgbClr val="282929"/>
                </a:solidFill>
                <a:latin typeface="Trebuchet MS"/>
                <a:cs typeface="Trebuchet MS"/>
              </a:rPr>
              <a:t>Base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282929"/>
                </a:solidFill>
                <a:latin typeface="Trebuchet MS"/>
                <a:cs typeface="Trebuchet MS"/>
              </a:rPr>
              <a:t>Datos,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Reglas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50">
                <a:solidFill>
                  <a:srgbClr val="282929"/>
                </a:solidFill>
                <a:latin typeface="Trebuchet MS"/>
                <a:cs typeface="Trebuchet MS"/>
              </a:rPr>
              <a:t>de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Negocio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75">
                <a:solidFill>
                  <a:srgbClr val="282929"/>
                </a:solidFill>
                <a:latin typeface="Trebuchet MS"/>
                <a:cs typeface="Trebuchet MS"/>
              </a:rPr>
              <a:t>e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85">
                <a:solidFill>
                  <a:srgbClr val="282929"/>
                </a:solidFill>
                <a:latin typeface="Trebuchet MS"/>
                <a:cs typeface="Trebuchet MS"/>
              </a:rPr>
              <a:t>inicio</a:t>
            </a:r>
            <a:r>
              <a:rPr dirty="0" sz="2000" spc="-1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del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30">
                <a:solidFill>
                  <a:srgbClr val="282929"/>
                </a:solidFill>
                <a:latin typeface="Trebuchet MS"/>
                <a:cs typeface="Trebuchet MS"/>
              </a:rPr>
              <a:t>Script</a:t>
            </a:r>
            <a:r>
              <a:rPr dirty="0" sz="2000" spc="-17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Generador.</a:t>
            </a:r>
            <a:endParaRPr sz="2000">
              <a:latin typeface="Trebuchet MS"/>
              <a:cs typeface="Trebuchet MS"/>
            </a:endParaRPr>
          </a:p>
          <a:p>
            <a:pPr marL="12700" marR="5080">
              <a:lnSpc>
                <a:spcPct val="103099"/>
              </a:lnSpc>
            </a:pPr>
            <a:r>
              <a:rPr dirty="0" sz="2000" spc="-215" b="1">
                <a:solidFill>
                  <a:srgbClr val="282929"/>
                </a:solidFill>
                <a:latin typeface="Verdana"/>
                <a:cs typeface="Verdana"/>
              </a:rPr>
              <a:t>Fase</a:t>
            </a:r>
            <a:r>
              <a:rPr dirty="0" sz="2000" spc="-35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80" b="1">
                <a:solidFill>
                  <a:srgbClr val="282929"/>
                </a:solidFill>
                <a:latin typeface="Verdana"/>
                <a:cs typeface="Verdana"/>
              </a:rPr>
              <a:t>2</a:t>
            </a:r>
            <a:r>
              <a:rPr dirty="0" sz="2000" spc="-35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270" b="1">
                <a:solidFill>
                  <a:srgbClr val="282929"/>
                </a:solidFill>
                <a:latin typeface="Verdana"/>
                <a:cs typeface="Verdana"/>
              </a:rPr>
              <a:t>(Sem.</a:t>
            </a:r>
            <a:r>
              <a:rPr dirty="0" sz="2000" spc="-44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90" b="1">
                <a:solidFill>
                  <a:srgbClr val="282929"/>
                </a:solidFill>
                <a:latin typeface="Verdana"/>
                <a:cs typeface="Verdana"/>
              </a:rPr>
              <a:t>5-</a:t>
            </a:r>
            <a:r>
              <a:rPr dirty="0" sz="2000" spc="-350" b="1">
                <a:solidFill>
                  <a:srgbClr val="282929"/>
                </a:solidFill>
                <a:latin typeface="Verdana"/>
                <a:cs typeface="Verdana"/>
              </a:rPr>
              <a:t>15):</a:t>
            </a:r>
            <a:r>
              <a:rPr dirty="0" sz="2000" spc="-35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Desarrollo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70">
                <a:solidFill>
                  <a:srgbClr val="282929"/>
                </a:solidFill>
                <a:latin typeface="Trebuchet MS"/>
                <a:cs typeface="Trebuchet MS"/>
              </a:rPr>
              <a:t>Intensivo.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65">
                <a:solidFill>
                  <a:srgbClr val="282929"/>
                </a:solidFill>
                <a:latin typeface="Trebuchet MS"/>
                <a:cs typeface="Trebuchet MS"/>
              </a:rPr>
              <a:t>Finalización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del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282929"/>
                </a:solidFill>
                <a:latin typeface="Trebuchet MS"/>
                <a:cs typeface="Trebuchet MS"/>
              </a:rPr>
              <a:t>script,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60">
                <a:solidFill>
                  <a:srgbClr val="282929"/>
                </a:solidFill>
                <a:latin typeface="Trebuchet MS"/>
                <a:cs typeface="Trebuchet MS"/>
              </a:rPr>
              <a:t>Entrenamiento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del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Motor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ML,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Construcción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25">
                <a:solidFill>
                  <a:srgbClr val="282929"/>
                </a:solidFill>
                <a:latin typeface="Trebuchet MS"/>
                <a:cs typeface="Trebuchet MS"/>
              </a:rPr>
              <a:t>del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Dashboard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50">
                <a:solidFill>
                  <a:srgbClr val="282929"/>
                </a:solidFill>
                <a:latin typeface="Trebuchet MS"/>
                <a:cs typeface="Trebuchet MS"/>
              </a:rPr>
              <a:t>(UI)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75">
                <a:solidFill>
                  <a:srgbClr val="282929"/>
                </a:solidFill>
                <a:latin typeface="Trebuchet MS"/>
                <a:cs typeface="Trebuchet MS"/>
              </a:rPr>
              <a:t>la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Integración</a:t>
            </a:r>
            <a:r>
              <a:rPr dirty="0" sz="2000" spc="-16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Backend</a:t>
            </a:r>
            <a:r>
              <a:rPr dirty="0" sz="2000" spc="-15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Transaccional.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2000" spc="-215" b="1">
                <a:solidFill>
                  <a:srgbClr val="282929"/>
                </a:solidFill>
                <a:latin typeface="Verdana"/>
                <a:cs typeface="Verdana"/>
              </a:rPr>
              <a:t>Fase</a:t>
            </a:r>
            <a:r>
              <a:rPr dirty="0" sz="2000" spc="-3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120" b="1">
                <a:solidFill>
                  <a:srgbClr val="282929"/>
                </a:solidFill>
                <a:latin typeface="Verdana"/>
                <a:cs typeface="Verdana"/>
              </a:rPr>
              <a:t>3</a:t>
            </a:r>
            <a:r>
              <a:rPr dirty="0" sz="2000" spc="-375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270" b="1">
                <a:solidFill>
                  <a:srgbClr val="282929"/>
                </a:solidFill>
                <a:latin typeface="Verdana"/>
                <a:cs typeface="Verdana"/>
              </a:rPr>
              <a:t>(Sem.</a:t>
            </a:r>
            <a:r>
              <a:rPr dirty="0" sz="2000" spc="-45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305" b="1">
                <a:solidFill>
                  <a:srgbClr val="282929"/>
                </a:solidFill>
                <a:latin typeface="Verdana"/>
                <a:cs typeface="Verdana"/>
              </a:rPr>
              <a:t>16-</a:t>
            </a:r>
            <a:r>
              <a:rPr dirty="0" sz="2000" spc="-345" b="1">
                <a:solidFill>
                  <a:srgbClr val="282929"/>
                </a:solidFill>
                <a:latin typeface="Verdana"/>
                <a:cs typeface="Verdana"/>
              </a:rPr>
              <a:t>18):</a:t>
            </a:r>
            <a:r>
              <a:rPr dirty="0" sz="2000" spc="-370" b="1">
                <a:solidFill>
                  <a:srgbClr val="282929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282929"/>
                </a:solidFill>
                <a:latin typeface="Trebuchet MS"/>
                <a:cs typeface="Trebuchet MS"/>
              </a:rPr>
              <a:t>QA,</a:t>
            </a:r>
            <a:r>
              <a:rPr dirty="0" sz="2000" spc="-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Pruebas</a:t>
            </a:r>
            <a:r>
              <a:rPr dirty="0" sz="2000" spc="-1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282929"/>
                </a:solidFill>
                <a:latin typeface="Trebuchet MS"/>
                <a:cs typeface="Trebuchet MS"/>
              </a:rPr>
              <a:t>Normativas</a:t>
            </a:r>
            <a:r>
              <a:rPr dirty="0" sz="2000" spc="-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85">
                <a:solidFill>
                  <a:srgbClr val="282929"/>
                </a:solidFill>
                <a:latin typeface="Trebuchet MS"/>
                <a:cs typeface="Trebuchet MS"/>
              </a:rPr>
              <a:t>finales,</a:t>
            </a:r>
            <a:r>
              <a:rPr dirty="0" sz="2000" spc="-1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Empaquetado</a:t>
            </a:r>
            <a:r>
              <a:rPr dirty="0" sz="2000" spc="-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en</a:t>
            </a:r>
            <a:r>
              <a:rPr dirty="0" sz="2000" spc="-1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>
                <a:solidFill>
                  <a:srgbClr val="282929"/>
                </a:solidFill>
                <a:latin typeface="Trebuchet MS"/>
                <a:cs typeface="Trebuchet MS"/>
              </a:rPr>
              <a:t>Docker</a:t>
            </a:r>
            <a:r>
              <a:rPr dirty="0" sz="2000" spc="-185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114">
                <a:solidFill>
                  <a:srgbClr val="282929"/>
                </a:solidFill>
                <a:latin typeface="Trebuchet MS"/>
                <a:cs typeface="Trebuchet MS"/>
              </a:rPr>
              <a:t>y</a:t>
            </a:r>
            <a:r>
              <a:rPr dirty="0" sz="2000" spc="-180">
                <a:solidFill>
                  <a:srgbClr val="282929"/>
                </a:solidFill>
                <a:latin typeface="Trebuchet MS"/>
                <a:cs typeface="Trebuchet MS"/>
              </a:rPr>
              <a:t> </a:t>
            </a:r>
            <a:r>
              <a:rPr dirty="0" sz="2000" spc="-10">
                <a:solidFill>
                  <a:srgbClr val="282929"/>
                </a:solidFill>
                <a:latin typeface="Trebuchet MS"/>
                <a:cs typeface="Trebuchet MS"/>
              </a:rPr>
              <a:t>Cierre.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6800"/>
              </a:lnSpc>
              <a:spcBef>
                <a:spcPts val="100"/>
              </a:spcBef>
            </a:pPr>
            <a:r>
              <a:rPr dirty="0" b="1">
                <a:latin typeface="Verdana"/>
                <a:cs typeface="Verdana"/>
              </a:rPr>
              <a:t>Aporte</a:t>
            </a:r>
            <a:r>
              <a:rPr dirty="0" spc="484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de</a:t>
            </a:r>
            <a:r>
              <a:rPr dirty="0" spc="484" b="1">
                <a:latin typeface="Verdana"/>
                <a:cs typeface="Verdana"/>
              </a:rPr>
              <a:t> </a:t>
            </a:r>
            <a:r>
              <a:rPr dirty="0" b="1">
                <a:latin typeface="Verdana"/>
                <a:cs typeface="Verdana"/>
              </a:rPr>
              <a:t>Valor</a:t>
            </a:r>
            <a:r>
              <a:rPr dirty="0" spc="484" b="1">
                <a:latin typeface="Verdana"/>
                <a:cs typeface="Verdana"/>
              </a:rPr>
              <a:t> </a:t>
            </a:r>
            <a:r>
              <a:rPr dirty="0" spc="-70" b="1">
                <a:latin typeface="Verdana"/>
                <a:cs typeface="Verdana"/>
              </a:rPr>
              <a:t>Estratégico:</a:t>
            </a:r>
            <a:r>
              <a:rPr dirty="0" spc="490" b="1">
                <a:latin typeface="Verdana"/>
                <a:cs typeface="Verdana"/>
              </a:rPr>
              <a:t> </a:t>
            </a:r>
            <a:r>
              <a:rPr dirty="0" spc="175"/>
              <a:t>Con</a:t>
            </a:r>
            <a:r>
              <a:rPr dirty="0" spc="-30"/>
              <a:t>  </a:t>
            </a:r>
            <a:r>
              <a:rPr dirty="0" spc="85"/>
              <a:t>SafeShift</a:t>
            </a:r>
            <a:r>
              <a:rPr dirty="0" spc="-25"/>
              <a:t>  </a:t>
            </a:r>
            <a:r>
              <a:rPr dirty="0" spc="-10"/>
              <a:t>Predictor, </a:t>
            </a:r>
            <a:r>
              <a:rPr dirty="0" spc="85"/>
              <a:t>transformamos</a:t>
            </a:r>
            <a:r>
              <a:rPr dirty="0" spc="250"/>
              <a:t> </a:t>
            </a:r>
            <a:r>
              <a:rPr dirty="0"/>
              <a:t>la</a:t>
            </a:r>
            <a:r>
              <a:rPr dirty="0" spc="254"/>
              <a:t> </a:t>
            </a:r>
            <a:r>
              <a:rPr dirty="0" spc="85"/>
              <a:t>gestión</a:t>
            </a:r>
            <a:r>
              <a:rPr dirty="0" spc="254"/>
              <a:t> </a:t>
            </a:r>
            <a:r>
              <a:rPr dirty="0" spc="110"/>
              <a:t>de</a:t>
            </a:r>
            <a:r>
              <a:rPr dirty="0" spc="250"/>
              <a:t> </a:t>
            </a:r>
            <a:r>
              <a:rPr dirty="0"/>
              <a:t>fatiga</a:t>
            </a:r>
            <a:r>
              <a:rPr dirty="0" spc="254"/>
              <a:t> </a:t>
            </a:r>
            <a:r>
              <a:rPr dirty="0" spc="45"/>
              <a:t>logística</a:t>
            </a:r>
            <a:r>
              <a:rPr dirty="0" spc="254"/>
              <a:t> </a:t>
            </a:r>
            <a:r>
              <a:rPr dirty="0" spc="110"/>
              <a:t>de</a:t>
            </a:r>
            <a:r>
              <a:rPr dirty="0" spc="254"/>
              <a:t> </a:t>
            </a:r>
            <a:r>
              <a:rPr dirty="0" spc="85"/>
              <a:t>un</a:t>
            </a:r>
            <a:r>
              <a:rPr dirty="0" spc="250"/>
              <a:t> </a:t>
            </a:r>
            <a:r>
              <a:rPr dirty="0" spc="70"/>
              <a:t>enfoque </a:t>
            </a:r>
            <a:r>
              <a:rPr dirty="0" spc="45"/>
              <a:t>reactivo</a:t>
            </a:r>
            <a:r>
              <a:rPr dirty="0" spc="-15"/>
              <a:t>  </a:t>
            </a:r>
            <a:r>
              <a:rPr dirty="0"/>
              <a:t>(actuar</a:t>
            </a:r>
            <a:r>
              <a:rPr dirty="0" spc="-15"/>
              <a:t>  </a:t>
            </a:r>
            <a:r>
              <a:rPr dirty="0" spc="130"/>
              <a:t>post-</a:t>
            </a:r>
            <a:r>
              <a:rPr dirty="0" spc="50"/>
              <a:t>accidente)</a:t>
            </a:r>
            <a:r>
              <a:rPr dirty="0" spc="-10"/>
              <a:t>  </a:t>
            </a:r>
            <a:r>
              <a:rPr dirty="0" spc="85"/>
              <a:t>a</a:t>
            </a:r>
            <a:r>
              <a:rPr dirty="0" spc="-15"/>
              <a:t>  </a:t>
            </a:r>
            <a:r>
              <a:rPr dirty="0" spc="85"/>
              <a:t>un</a:t>
            </a:r>
            <a:r>
              <a:rPr dirty="0" spc="-15"/>
              <a:t>  </a:t>
            </a:r>
            <a:r>
              <a:rPr dirty="0" spc="70"/>
              <a:t>modelo</a:t>
            </a:r>
            <a:r>
              <a:rPr dirty="0" spc="-10"/>
              <a:t>  preventivo, </a:t>
            </a:r>
            <a:r>
              <a:rPr dirty="0" spc="70"/>
              <a:t>protegiendo</a:t>
            </a:r>
            <a:r>
              <a:rPr dirty="0" spc="20"/>
              <a:t> </a:t>
            </a:r>
            <a:r>
              <a:rPr dirty="0" spc="105"/>
              <a:t>vidas</a:t>
            </a:r>
            <a:r>
              <a:rPr dirty="0" spc="25"/>
              <a:t> </a:t>
            </a:r>
            <a:r>
              <a:rPr dirty="0" spc="140"/>
              <a:t>y</a:t>
            </a:r>
            <a:r>
              <a:rPr dirty="0" spc="20"/>
              <a:t> </a:t>
            </a:r>
            <a:r>
              <a:rPr dirty="0" spc="60"/>
              <a:t>evitando</a:t>
            </a:r>
            <a:r>
              <a:rPr dirty="0" spc="25"/>
              <a:t> </a:t>
            </a:r>
            <a:r>
              <a:rPr dirty="0"/>
              <a:t>multas</a:t>
            </a:r>
            <a:r>
              <a:rPr dirty="0" spc="20"/>
              <a:t> </a:t>
            </a:r>
            <a:r>
              <a:rPr dirty="0" spc="-10"/>
              <a:t>normativas.</a:t>
            </a:r>
          </a:p>
          <a:p>
            <a:pPr>
              <a:lnSpc>
                <a:spcPct val="100000"/>
              </a:lnSpc>
              <a:spcBef>
                <a:spcPts val="285"/>
              </a:spcBef>
            </a:pPr>
          </a:p>
          <a:p>
            <a:pPr algn="just" marL="12700" marR="5080">
              <a:lnSpc>
                <a:spcPct val="106800"/>
              </a:lnSpc>
            </a:pPr>
            <a:r>
              <a:rPr dirty="0" spc="-70" b="1">
                <a:latin typeface="Verdana"/>
                <a:cs typeface="Verdana"/>
              </a:rPr>
              <a:t>Factibilidad</a:t>
            </a:r>
            <a:r>
              <a:rPr dirty="0" spc="450" b="1">
                <a:latin typeface="Verdana"/>
                <a:cs typeface="Verdana"/>
              </a:rPr>
              <a:t> </a:t>
            </a:r>
            <a:r>
              <a:rPr dirty="0" spc="-114" b="1">
                <a:latin typeface="Verdana"/>
                <a:cs typeface="Verdana"/>
              </a:rPr>
              <a:t>Demostrada:</a:t>
            </a:r>
            <a:r>
              <a:rPr dirty="0" spc="455" b="1">
                <a:latin typeface="Verdana"/>
                <a:cs typeface="Verdana"/>
              </a:rPr>
              <a:t> </a:t>
            </a:r>
            <a:r>
              <a:rPr dirty="0" spc="105"/>
              <a:t>Presentamos</a:t>
            </a:r>
            <a:r>
              <a:rPr dirty="0" spc="-45"/>
              <a:t>  </a:t>
            </a:r>
            <a:r>
              <a:rPr dirty="0" spc="85"/>
              <a:t>una</a:t>
            </a:r>
            <a:r>
              <a:rPr dirty="0" spc="-40"/>
              <a:t>  </a:t>
            </a:r>
            <a:r>
              <a:rPr dirty="0" spc="-10"/>
              <a:t>arquitectura </a:t>
            </a:r>
            <a:r>
              <a:rPr dirty="0" spc="65"/>
              <a:t>escalable</a:t>
            </a:r>
            <a:r>
              <a:rPr dirty="0" spc="60"/>
              <a:t> </a:t>
            </a:r>
            <a:r>
              <a:rPr dirty="0" spc="140"/>
              <a:t>y</a:t>
            </a:r>
            <a:r>
              <a:rPr dirty="0" spc="65"/>
              <a:t> </a:t>
            </a:r>
            <a:r>
              <a:rPr dirty="0" spc="114"/>
              <a:t>no</a:t>
            </a:r>
            <a:r>
              <a:rPr dirty="0" spc="65"/>
              <a:t> </a:t>
            </a:r>
            <a:r>
              <a:rPr dirty="0" spc="75"/>
              <a:t>invasiva</a:t>
            </a:r>
            <a:r>
              <a:rPr dirty="0" spc="65"/>
              <a:t> </a:t>
            </a:r>
            <a:r>
              <a:rPr dirty="0" spc="50"/>
              <a:t>(sin</a:t>
            </a:r>
            <a:r>
              <a:rPr dirty="0" spc="65"/>
              <a:t> </a:t>
            </a:r>
            <a:r>
              <a:rPr dirty="0" spc="75"/>
              <a:t>hardware</a:t>
            </a:r>
            <a:r>
              <a:rPr dirty="0" spc="60"/>
              <a:t> </a:t>
            </a:r>
            <a:r>
              <a:rPr dirty="0" spc="125"/>
              <a:t>costoso)</a:t>
            </a:r>
            <a:r>
              <a:rPr dirty="0" spc="65"/>
              <a:t> </a:t>
            </a:r>
            <a:r>
              <a:rPr dirty="0" spc="90"/>
              <a:t>que</a:t>
            </a:r>
            <a:r>
              <a:rPr dirty="0" spc="65"/>
              <a:t> </a:t>
            </a:r>
            <a:r>
              <a:rPr dirty="0" spc="60"/>
              <a:t>resuelve </a:t>
            </a:r>
            <a:r>
              <a:rPr dirty="0"/>
              <a:t>el</a:t>
            </a:r>
            <a:r>
              <a:rPr dirty="0" spc="540"/>
              <a:t> </a:t>
            </a:r>
            <a:r>
              <a:rPr dirty="0" spc="60"/>
              <a:t>problema</a:t>
            </a:r>
            <a:r>
              <a:rPr dirty="0" spc="545"/>
              <a:t> </a:t>
            </a:r>
            <a:r>
              <a:rPr dirty="0" spc="110"/>
              <a:t>de</a:t>
            </a:r>
            <a:r>
              <a:rPr dirty="0" spc="545"/>
              <a:t> </a:t>
            </a:r>
            <a:r>
              <a:rPr dirty="0" spc="60"/>
              <a:t>privacidad</a:t>
            </a:r>
            <a:r>
              <a:rPr dirty="0" spc="545"/>
              <a:t> </a:t>
            </a:r>
            <a:r>
              <a:rPr dirty="0" spc="110"/>
              <a:t>de</a:t>
            </a:r>
            <a:r>
              <a:rPr dirty="0" spc="545"/>
              <a:t> </a:t>
            </a:r>
            <a:r>
              <a:rPr dirty="0" spc="110"/>
              <a:t>datos</a:t>
            </a:r>
            <a:r>
              <a:rPr dirty="0" spc="545"/>
              <a:t> </a:t>
            </a:r>
            <a:r>
              <a:rPr dirty="0"/>
              <a:t>utilizando</a:t>
            </a:r>
            <a:r>
              <a:rPr dirty="0" spc="545"/>
              <a:t> </a:t>
            </a:r>
            <a:r>
              <a:rPr dirty="0" spc="60"/>
              <a:t>generación </a:t>
            </a:r>
            <a:r>
              <a:rPr dirty="0"/>
              <a:t>sintética</a:t>
            </a:r>
            <a:r>
              <a:rPr dirty="0" spc="15"/>
              <a:t> </a:t>
            </a:r>
            <a:r>
              <a:rPr dirty="0"/>
              <a:t>bajo</a:t>
            </a:r>
            <a:r>
              <a:rPr dirty="0" spc="20"/>
              <a:t> </a:t>
            </a:r>
            <a:r>
              <a:rPr dirty="0"/>
              <a:t>la</a:t>
            </a:r>
            <a:r>
              <a:rPr dirty="0" spc="20"/>
              <a:t> </a:t>
            </a:r>
            <a:r>
              <a:rPr dirty="0" spc="114"/>
              <a:t>Ley</a:t>
            </a:r>
            <a:r>
              <a:rPr dirty="0" spc="20"/>
              <a:t> </a:t>
            </a:r>
            <a:r>
              <a:rPr dirty="0" spc="-10"/>
              <a:t>19.628.</a:t>
            </a:r>
          </a:p>
          <a:p>
            <a:pPr>
              <a:lnSpc>
                <a:spcPct val="100000"/>
              </a:lnSpc>
              <a:spcBef>
                <a:spcPts val="285"/>
              </a:spcBef>
            </a:pPr>
          </a:p>
          <a:p>
            <a:pPr algn="just" marL="12700" marR="5080">
              <a:lnSpc>
                <a:spcPct val="106800"/>
              </a:lnSpc>
              <a:spcBef>
                <a:spcPts val="5"/>
              </a:spcBef>
            </a:pPr>
            <a:r>
              <a:rPr dirty="0" spc="-229" b="1">
                <a:latin typeface="Verdana"/>
                <a:cs typeface="Verdana"/>
              </a:rPr>
              <a:t>Próximos</a:t>
            </a:r>
            <a:r>
              <a:rPr dirty="0" spc="20" b="1">
                <a:latin typeface="Verdana"/>
                <a:cs typeface="Verdana"/>
              </a:rPr>
              <a:t> </a:t>
            </a:r>
            <a:r>
              <a:rPr dirty="0" spc="-204" b="1">
                <a:latin typeface="Verdana"/>
                <a:cs typeface="Verdana"/>
              </a:rPr>
              <a:t>Pasos</a:t>
            </a:r>
            <a:r>
              <a:rPr dirty="0" b="1">
                <a:latin typeface="Verdana"/>
                <a:cs typeface="Verdana"/>
              </a:rPr>
              <a:t> </a:t>
            </a:r>
            <a:r>
              <a:rPr dirty="0" spc="-254" b="1">
                <a:latin typeface="Verdana"/>
                <a:cs typeface="Verdana"/>
              </a:rPr>
              <a:t>(Fase</a:t>
            </a:r>
            <a:r>
              <a:rPr dirty="0" spc="50" b="1">
                <a:latin typeface="Verdana"/>
                <a:cs typeface="Verdana"/>
              </a:rPr>
              <a:t> </a:t>
            </a:r>
            <a:r>
              <a:rPr dirty="0" spc="-400" b="1">
                <a:latin typeface="Verdana"/>
                <a:cs typeface="Verdana"/>
              </a:rPr>
              <a:t>2):</a:t>
            </a:r>
            <a:r>
              <a:rPr dirty="0" spc="195" b="1">
                <a:latin typeface="Verdana"/>
                <a:cs typeface="Verdana"/>
              </a:rPr>
              <a:t> </a:t>
            </a:r>
            <a:r>
              <a:rPr dirty="0" spc="55"/>
              <a:t>Levantamiento</a:t>
            </a:r>
            <a:r>
              <a:rPr dirty="0" spc="-185"/>
              <a:t> </a:t>
            </a:r>
            <a:r>
              <a:rPr dirty="0" spc="110"/>
              <a:t>de</a:t>
            </a:r>
            <a:r>
              <a:rPr dirty="0" spc="100"/>
              <a:t> </a:t>
            </a:r>
            <a:r>
              <a:rPr dirty="0" spc="85"/>
              <a:t>los</a:t>
            </a:r>
            <a:r>
              <a:rPr dirty="0" spc="195"/>
              <a:t> </a:t>
            </a:r>
            <a:r>
              <a:rPr dirty="0" spc="50"/>
              <a:t>repositorios </a:t>
            </a:r>
            <a:r>
              <a:rPr dirty="0" spc="85"/>
              <a:t>en</a:t>
            </a:r>
            <a:r>
              <a:rPr dirty="0" spc="40"/>
              <a:t> </a:t>
            </a:r>
            <a:r>
              <a:rPr dirty="0"/>
              <a:t>GitHub,</a:t>
            </a:r>
            <a:r>
              <a:rPr dirty="0" spc="40"/>
              <a:t> </a:t>
            </a:r>
            <a:r>
              <a:rPr dirty="0"/>
              <a:t>ejecución</a:t>
            </a:r>
            <a:r>
              <a:rPr dirty="0" spc="40"/>
              <a:t> </a:t>
            </a:r>
            <a:r>
              <a:rPr dirty="0"/>
              <a:t>del</a:t>
            </a:r>
            <a:r>
              <a:rPr dirty="0" spc="40"/>
              <a:t> </a:t>
            </a:r>
            <a:r>
              <a:rPr dirty="0" spc="50"/>
              <a:t>script</a:t>
            </a:r>
            <a:r>
              <a:rPr dirty="0" spc="40"/>
              <a:t> </a:t>
            </a:r>
            <a:r>
              <a:rPr dirty="0"/>
              <a:t>sintético</a:t>
            </a:r>
            <a:r>
              <a:rPr dirty="0" spc="40"/>
              <a:t> </a:t>
            </a:r>
            <a:r>
              <a:rPr dirty="0" spc="75"/>
              <a:t>e</a:t>
            </a:r>
            <a:r>
              <a:rPr dirty="0" spc="40"/>
              <a:t> </a:t>
            </a:r>
            <a:r>
              <a:rPr dirty="0"/>
              <a:t>inicio</a:t>
            </a:r>
            <a:r>
              <a:rPr dirty="0" spc="40"/>
              <a:t> </a:t>
            </a:r>
            <a:r>
              <a:rPr dirty="0" spc="110"/>
              <a:t>de</a:t>
            </a:r>
            <a:r>
              <a:rPr dirty="0" spc="40"/>
              <a:t> </a:t>
            </a:r>
            <a:r>
              <a:rPr dirty="0"/>
              <a:t>la</a:t>
            </a:r>
            <a:r>
              <a:rPr dirty="0" spc="40"/>
              <a:t> </a:t>
            </a:r>
            <a:r>
              <a:rPr dirty="0" spc="70"/>
              <a:t>ingesta </a:t>
            </a:r>
            <a:r>
              <a:rPr dirty="0" spc="110"/>
              <a:t>de</a:t>
            </a:r>
            <a:r>
              <a:rPr dirty="0" spc="-5"/>
              <a:t> </a:t>
            </a:r>
            <a:r>
              <a:rPr dirty="0" spc="110"/>
              <a:t>datos</a:t>
            </a:r>
            <a:r>
              <a:rPr dirty="0"/>
              <a:t> </a:t>
            </a:r>
            <a:r>
              <a:rPr dirty="0" spc="65"/>
              <a:t>para</a:t>
            </a:r>
            <a:r>
              <a:rPr dirty="0"/>
              <a:t> entrenar el</a:t>
            </a:r>
            <a:r>
              <a:rPr dirty="0" spc="-5"/>
              <a:t> </a:t>
            </a:r>
            <a:r>
              <a:rPr dirty="0" spc="70"/>
              <a:t>modelo</a:t>
            </a:r>
            <a:r>
              <a:rPr dirty="0"/>
              <a:t> </a:t>
            </a:r>
            <a:r>
              <a:rPr dirty="0" spc="50"/>
              <a:t>base.</a:t>
            </a: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41065" y="1392402"/>
            <a:ext cx="7005955" cy="1730375"/>
          </a:xfrm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1590" marR="5080" indent="-9525">
              <a:lnSpc>
                <a:spcPts val="6830"/>
              </a:lnSpc>
            </a:pPr>
            <a:r>
              <a:rPr dirty="0" spc="890"/>
              <a:t>CONCLUSIONES</a:t>
            </a:r>
            <a:r>
              <a:rPr dirty="0" spc="-240"/>
              <a:t> </a:t>
            </a:r>
            <a:r>
              <a:rPr dirty="0" spc="780"/>
              <a:t>Y </a:t>
            </a:r>
            <a:r>
              <a:rPr dirty="0" spc="795"/>
              <a:t>PRÓXIMOS</a:t>
            </a:r>
            <a:r>
              <a:rPr dirty="0" spc="-220"/>
              <a:t> </a:t>
            </a:r>
            <a:r>
              <a:rPr dirty="0" spc="660"/>
              <a:t>PASOS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IGNACIO ANTONIO CUEVAS ESPINOZA</dc:creator>
  <cp:keywords>DAHTyfcPWJ8,BAFijIXMjoI</cp:keywords>
  <dc:title>Fase 1 Capstone</dc:title>
  <dcterms:created xsi:type="dcterms:W3CDTF">2026-09-21T12:51:19Z</dcterms:created>
  <dcterms:modified xsi:type="dcterms:W3CDTF">2026-09-21T12:51:19Z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2026-08-31T00:00:00Z</vt:filetime>
  </property>
  <property fmtid="{D5CDD505-2E9C-101B-9397-08002B2CF9AE}" pid="4" name="Creator">
    <vt:lpwstr>Canva</vt:lpwstr>
  </property>
  <property fmtid="{D5CDD505-2E9C-101B-9397-08002B2CF9AE}" pid="5" name="LastSaved">
    <vt:filetime>2026-09-21T00:00:00Z</vt:filetime>
  </property>
  <property fmtid="{D5CDD505-2E9C-101B-9397-08002B2CF9AE}" pid="6" name="Producer">
    <vt:lpwstr>Canva</vt:lpwstr>
  </property>
</Properties>
</file>